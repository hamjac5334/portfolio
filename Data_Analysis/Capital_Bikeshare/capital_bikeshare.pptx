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2FA"/>
    <a:srgbClr val="417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92"/>
    <p:restoredTop sz="94643"/>
  </p:normalViewPr>
  <p:slideViewPr>
    <p:cSldViewPr snapToGrid="0">
      <p:cViewPr>
        <p:scale>
          <a:sx n="91" d="100"/>
          <a:sy n="91" d="100"/>
        </p:scale>
        <p:origin x="192" y="5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17C72-D742-8845-1640-E230B7D115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E6872E-F7AF-AEA8-7ED8-08D5C19884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25A36B-78DA-DD8E-2207-50E2CB13172A}"/>
              </a:ext>
            </a:extLst>
          </p:cNvPr>
          <p:cNvSpPr>
            <a:spLocks noGrp="1"/>
          </p:cNvSpPr>
          <p:nvPr>
            <p:ph type="dt" sz="half" idx="10"/>
          </p:nvPr>
        </p:nvSpPr>
        <p:spPr/>
        <p:txBody>
          <a:bodyPr/>
          <a:lstStyle/>
          <a:p>
            <a:fld id="{D69C10DB-6D70-6041-91FC-4B7530801A89}" type="datetimeFigureOut">
              <a:rPr lang="en-US" smtClean="0"/>
              <a:t>5/24/26</a:t>
            </a:fld>
            <a:endParaRPr lang="en-US"/>
          </a:p>
        </p:txBody>
      </p:sp>
      <p:sp>
        <p:nvSpPr>
          <p:cNvPr id="5" name="Footer Placeholder 4">
            <a:extLst>
              <a:ext uri="{FF2B5EF4-FFF2-40B4-BE49-F238E27FC236}">
                <a16:creationId xmlns:a16="http://schemas.microsoft.com/office/drawing/2014/main" id="{60AF9B1B-F435-FA14-15E4-76BB494F5F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5BFED1-962F-1841-3F33-B49B1F896948}"/>
              </a:ext>
            </a:extLst>
          </p:cNvPr>
          <p:cNvSpPr>
            <a:spLocks noGrp="1"/>
          </p:cNvSpPr>
          <p:nvPr>
            <p:ph type="sldNum" sz="quarter" idx="12"/>
          </p:nvPr>
        </p:nvSpPr>
        <p:spPr/>
        <p:txBody>
          <a:bodyPr/>
          <a:lstStyle/>
          <a:p>
            <a:fld id="{FB8D7CCC-8C82-1E49-8BF5-4A35792FB178}" type="slidenum">
              <a:rPr lang="en-US" smtClean="0"/>
              <a:t>‹#›</a:t>
            </a:fld>
            <a:endParaRPr lang="en-US"/>
          </a:p>
        </p:txBody>
      </p:sp>
    </p:spTree>
    <p:extLst>
      <p:ext uri="{BB962C8B-B14F-4D97-AF65-F5344CB8AC3E}">
        <p14:creationId xmlns:p14="http://schemas.microsoft.com/office/powerpoint/2010/main" val="128087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2EFC6-6A66-89EA-6F93-FB247465F7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08D03-E91F-92DD-D2B4-029A9822F4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6CA063-FD3C-729F-AC98-6921B20F3D9B}"/>
              </a:ext>
            </a:extLst>
          </p:cNvPr>
          <p:cNvSpPr>
            <a:spLocks noGrp="1"/>
          </p:cNvSpPr>
          <p:nvPr>
            <p:ph type="dt" sz="half" idx="10"/>
          </p:nvPr>
        </p:nvSpPr>
        <p:spPr/>
        <p:txBody>
          <a:bodyPr/>
          <a:lstStyle/>
          <a:p>
            <a:fld id="{D69C10DB-6D70-6041-91FC-4B7530801A89}" type="datetimeFigureOut">
              <a:rPr lang="en-US" smtClean="0"/>
              <a:t>5/24/26</a:t>
            </a:fld>
            <a:endParaRPr lang="en-US"/>
          </a:p>
        </p:txBody>
      </p:sp>
      <p:sp>
        <p:nvSpPr>
          <p:cNvPr id="5" name="Footer Placeholder 4">
            <a:extLst>
              <a:ext uri="{FF2B5EF4-FFF2-40B4-BE49-F238E27FC236}">
                <a16:creationId xmlns:a16="http://schemas.microsoft.com/office/drawing/2014/main" id="{9FC5843C-D925-CF3E-D02E-64D9A059C0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83CB67-7D18-0F64-7C07-BF429020F56A}"/>
              </a:ext>
            </a:extLst>
          </p:cNvPr>
          <p:cNvSpPr>
            <a:spLocks noGrp="1"/>
          </p:cNvSpPr>
          <p:nvPr>
            <p:ph type="sldNum" sz="quarter" idx="12"/>
          </p:nvPr>
        </p:nvSpPr>
        <p:spPr/>
        <p:txBody>
          <a:bodyPr/>
          <a:lstStyle/>
          <a:p>
            <a:fld id="{FB8D7CCC-8C82-1E49-8BF5-4A35792FB178}" type="slidenum">
              <a:rPr lang="en-US" smtClean="0"/>
              <a:t>‹#›</a:t>
            </a:fld>
            <a:endParaRPr lang="en-US"/>
          </a:p>
        </p:txBody>
      </p:sp>
    </p:spTree>
    <p:extLst>
      <p:ext uri="{BB962C8B-B14F-4D97-AF65-F5344CB8AC3E}">
        <p14:creationId xmlns:p14="http://schemas.microsoft.com/office/powerpoint/2010/main" val="984018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1A426-EEA3-C903-E2BE-F61E416958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D49725-1D76-C629-EA42-5FDB09FC3E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BF0CE4-2377-9DF0-3C6E-BF18EF31ACAA}"/>
              </a:ext>
            </a:extLst>
          </p:cNvPr>
          <p:cNvSpPr>
            <a:spLocks noGrp="1"/>
          </p:cNvSpPr>
          <p:nvPr>
            <p:ph type="dt" sz="half" idx="10"/>
          </p:nvPr>
        </p:nvSpPr>
        <p:spPr/>
        <p:txBody>
          <a:bodyPr/>
          <a:lstStyle/>
          <a:p>
            <a:fld id="{D69C10DB-6D70-6041-91FC-4B7530801A89}" type="datetimeFigureOut">
              <a:rPr lang="en-US" smtClean="0"/>
              <a:t>5/24/26</a:t>
            </a:fld>
            <a:endParaRPr lang="en-US"/>
          </a:p>
        </p:txBody>
      </p:sp>
      <p:sp>
        <p:nvSpPr>
          <p:cNvPr id="5" name="Footer Placeholder 4">
            <a:extLst>
              <a:ext uri="{FF2B5EF4-FFF2-40B4-BE49-F238E27FC236}">
                <a16:creationId xmlns:a16="http://schemas.microsoft.com/office/drawing/2014/main" id="{9968A186-4DBB-7DE3-DFE4-EA3F3972EE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9E5A79-8505-1003-94D2-6DF9C374E371}"/>
              </a:ext>
            </a:extLst>
          </p:cNvPr>
          <p:cNvSpPr>
            <a:spLocks noGrp="1"/>
          </p:cNvSpPr>
          <p:nvPr>
            <p:ph type="sldNum" sz="quarter" idx="12"/>
          </p:nvPr>
        </p:nvSpPr>
        <p:spPr/>
        <p:txBody>
          <a:bodyPr/>
          <a:lstStyle/>
          <a:p>
            <a:fld id="{FB8D7CCC-8C82-1E49-8BF5-4A35792FB178}" type="slidenum">
              <a:rPr lang="en-US" smtClean="0"/>
              <a:t>‹#›</a:t>
            </a:fld>
            <a:endParaRPr lang="en-US"/>
          </a:p>
        </p:txBody>
      </p:sp>
    </p:spTree>
    <p:extLst>
      <p:ext uri="{BB962C8B-B14F-4D97-AF65-F5344CB8AC3E}">
        <p14:creationId xmlns:p14="http://schemas.microsoft.com/office/powerpoint/2010/main" val="2741562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F8510-16AB-2BE1-8A62-25E750FA36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55D314-3CB1-6513-771D-6F6A197CDB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601212-5FEA-6246-AA91-41377A017B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F00C8D-7178-718E-EF1D-1B6B39A9184D}"/>
              </a:ext>
            </a:extLst>
          </p:cNvPr>
          <p:cNvSpPr>
            <a:spLocks noGrp="1"/>
          </p:cNvSpPr>
          <p:nvPr>
            <p:ph type="dt" sz="half" idx="10"/>
          </p:nvPr>
        </p:nvSpPr>
        <p:spPr/>
        <p:txBody>
          <a:bodyPr/>
          <a:lstStyle/>
          <a:p>
            <a:fld id="{D69C10DB-6D70-6041-91FC-4B7530801A89}" type="datetimeFigureOut">
              <a:rPr lang="en-US" smtClean="0"/>
              <a:t>5/24/26</a:t>
            </a:fld>
            <a:endParaRPr lang="en-US"/>
          </a:p>
        </p:txBody>
      </p:sp>
      <p:sp>
        <p:nvSpPr>
          <p:cNvPr id="6" name="Footer Placeholder 5">
            <a:extLst>
              <a:ext uri="{FF2B5EF4-FFF2-40B4-BE49-F238E27FC236}">
                <a16:creationId xmlns:a16="http://schemas.microsoft.com/office/drawing/2014/main" id="{7164EB79-9BA4-2870-D0C4-3869F327B2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13A30E-3326-B7E8-E113-8017C9F0AA2C}"/>
              </a:ext>
            </a:extLst>
          </p:cNvPr>
          <p:cNvSpPr>
            <a:spLocks noGrp="1"/>
          </p:cNvSpPr>
          <p:nvPr>
            <p:ph type="sldNum" sz="quarter" idx="12"/>
          </p:nvPr>
        </p:nvSpPr>
        <p:spPr/>
        <p:txBody>
          <a:bodyPr/>
          <a:lstStyle/>
          <a:p>
            <a:fld id="{FB8D7CCC-8C82-1E49-8BF5-4A35792FB178}" type="slidenum">
              <a:rPr lang="en-US" smtClean="0"/>
              <a:t>‹#›</a:t>
            </a:fld>
            <a:endParaRPr lang="en-US"/>
          </a:p>
        </p:txBody>
      </p:sp>
    </p:spTree>
    <p:extLst>
      <p:ext uri="{BB962C8B-B14F-4D97-AF65-F5344CB8AC3E}">
        <p14:creationId xmlns:p14="http://schemas.microsoft.com/office/powerpoint/2010/main" val="3262502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F0157-D024-40ED-3693-133B3C3868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F3BDBF-22B0-99D7-8D59-90F1332364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CDB016-5A3F-1F7A-3945-FBB04D7132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A160F7-94C1-CE63-EE4A-774DBE17C6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A0DFAF-67D2-ADC0-CC00-972939399F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CDA7BD8-E114-B934-B89F-F87F44FDA634}"/>
              </a:ext>
            </a:extLst>
          </p:cNvPr>
          <p:cNvSpPr>
            <a:spLocks noGrp="1"/>
          </p:cNvSpPr>
          <p:nvPr>
            <p:ph type="dt" sz="half" idx="10"/>
          </p:nvPr>
        </p:nvSpPr>
        <p:spPr/>
        <p:txBody>
          <a:bodyPr/>
          <a:lstStyle/>
          <a:p>
            <a:fld id="{D69C10DB-6D70-6041-91FC-4B7530801A89}" type="datetimeFigureOut">
              <a:rPr lang="en-US" smtClean="0"/>
              <a:t>5/24/26</a:t>
            </a:fld>
            <a:endParaRPr lang="en-US"/>
          </a:p>
        </p:txBody>
      </p:sp>
      <p:sp>
        <p:nvSpPr>
          <p:cNvPr id="8" name="Footer Placeholder 7">
            <a:extLst>
              <a:ext uri="{FF2B5EF4-FFF2-40B4-BE49-F238E27FC236}">
                <a16:creationId xmlns:a16="http://schemas.microsoft.com/office/drawing/2014/main" id="{6D791ECA-E616-BE8E-D933-BE5FDDECC3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9EE72B-A8AF-B73C-1FA4-5713567D68E8}"/>
              </a:ext>
            </a:extLst>
          </p:cNvPr>
          <p:cNvSpPr>
            <a:spLocks noGrp="1"/>
          </p:cNvSpPr>
          <p:nvPr>
            <p:ph type="sldNum" sz="quarter" idx="12"/>
          </p:nvPr>
        </p:nvSpPr>
        <p:spPr/>
        <p:txBody>
          <a:bodyPr/>
          <a:lstStyle/>
          <a:p>
            <a:fld id="{FB8D7CCC-8C82-1E49-8BF5-4A35792FB178}" type="slidenum">
              <a:rPr lang="en-US" smtClean="0"/>
              <a:t>‹#›</a:t>
            </a:fld>
            <a:endParaRPr lang="en-US"/>
          </a:p>
        </p:txBody>
      </p:sp>
    </p:spTree>
    <p:extLst>
      <p:ext uri="{BB962C8B-B14F-4D97-AF65-F5344CB8AC3E}">
        <p14:creationId xmlns:p14="http://schemas.microsoft.com/office/powerpoint/2010/main" val="4226275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EA003-75E5-B20E-9CBC-6312B8BE56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71A739-C648-CA7B-02EE-49F2554D0E17}"/>
              </a:ext>
            </a:extLst>
          </p:cNvPr>
          <p:cNvSpPr>
            <a:spLocks noGrp="1"/>
          </p:cNvSpPr>
          <p:nvPr>
            <p:ph type="dt" sz="half" idx="10"/>
          </p:nvPr>
        </p:nvSpPr>
        <p:spPr/>
        <p:txBody>
          <a:bodyPr/>
          <a:lstStyle/>
          <a:p>
            <a:fld id="{D69C10DB-6D70-6041-91FC-4B7530801A89}" type="datetimeFigureOut">
              <a:rPr lang="en-US" smtClean="0"/>
              <a:t>5/24/26</a:t>
            </a:fld>
            <a:endParaRPr lang="en-US"/>
          </a:p>
        </p:txBody>
      </p:sp>
      <p:sp>
        <p:nvSpPr>
          <p:cNvPr id="4" name="Footer Placeholder 3">
            <a:extLst>
              <a:ext uri="{FF2B5EF4-FFF2-40B4-BE49-F238E27FC236}">
                <a16:creationId xmlns:a16="http://schemas.microsoft.com/office/drawing/2014/main" id="{9111FBE5-26E0-66F9-600A-D24950EC795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3FA49FB-1AE0-6583-32B5-AFC1F4BAA00B}"/>
              </a:ext>
            </a:extLst>
          </p:cNvPr>
          <p:cNvSpPr>
            <a:spLocks noGrp="1"/>
          </p:cNvSpPr>
          <p:nvPr>
            <p:ph type="sldNum" sz="quarter" idx="12"/>
          </p:nvPr>
        </p:nvSpPr>
        <p:spPr/>
        <p:txBody>
          <a:bodyPr/>
          <a:lstStyle/>
          <a:p>
            <a:fld id="{FB8D7CCC-8C82-1E49-8BF5-4A35792FB178}" type="slidenum">
              <a:rPr lang="en-US" smtClean="0"/>
              <a:t>‹#›</a:t>
            </a:fld>
            <a:endParaRPr lang="en-US"/>
          </a:p>
        </p:txBody>
      </p:sp>
    </p:spTree>
    <p:extLst>
      <p:ext uri="{BB962C8B-B14F-4D97-AF65-F5344CB8AC3E}">
        <p14:creationId xmlns:p14="http://schemas.microsoft.com/office/powerpoint/2010/main" val="78756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0D13D8-3CBD-1CE1-BA0D-685B264C80FC}"/>
              </a:ext>
            </a:extLst>
          </p:cNvPr>
          <p:cNvSpPr>
            <a:spLocks noGrp="1"/>
          </p:cNvSpPr>
          <p:nvPr>
            <p:ph type="dt" sz="half" idx="10"/>
          </p:nvPr>
        </p:nvSpPr>
        <p:spPr/>
        <p:txBody>
          <a:bodyPr/>
          <a:lstStyle/>
          <a:p>
            <a:fld id="{D69C10DB-6D70-6041-91FC-4B7530801A89}" type="datetimeFigureOut">
              <a:rPr lang="en-US" smtClean="0"/>
              <a:t>5/24/26</a:t>
            </a:fld>
            <a:endParaRPr lang="en-US"/>
          </a:p>
        </p:txBody>
      </p:sp>
      <p:sp>
        <p:nvSpPr>
          <p:cNvPr id="3" name="Footer Placeholder 2">
            <a:extLst>
              <a:ext uri="{FF2B5EF4-FFF2-40B4-BE49-F238E27FC236}">
                <a16:creationId xmlns:a16="http://schemas.microsoft.com/office/drawing/2014/main" id="{EB7A6327-54D8-DE10-EA3A-B674641F3F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2E2DD9-38DF-2986-5BD3-2F16AF69F862}"/>
              </a:ext>
            </a:extLst>
          </p:cNvPr>
          <p:cNvSpPr>
            <a:spLocks noGrp="1"/>
          </p:cNvSpPr>
          <p:nvPr>
            <p:ph type="sldNum" sz="quarter" idx="12"/>
          </p:nvPr>
        </p:nvSpPr>
        <p:spPr/>
        <p:txBody>
          <a:bodyPr/>
          <a:lstStyle/>
          <a:p>
            <a:fld id="{FB8D7CCC-8C82-1E49-8BF5-4A35792FB178}" type="slidenum">
              <a:rPr lang="en-US" smtClean="0"/>
              <a:t>‹#›</a:t>
            </a:fld>
            <a:endParaRPr lang="en-US"/>
          </a:p>
        </p:txBody>
      </p:sp>
    </p:spTree>
    <p:extLst>
      <p:ext uri="{BB962C8B-B14F-4D97-AF65-F5344CB8AC3E}">
        <p14:creationId xmlns:p14="http://schemas.microsoft.com/office/powerpoint/2010/main" val="2846467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8AB09-A5E9-55C4-54C8-8DE5E34A54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F1F99B4-6ECB-F74E-A5FE-3F55B557CE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43D606-6B14-89AF-6492-80E66D7567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54F252-1CC8-91A5-FD34-12185CD22148}"/>
              </a:ext>
            </a:extLst>
          </p:cNvPr>
          <p:cNvSpPr>
            <a:spLocks noGrp="1"/>
          </p:cNvSpPr>
          <p:nvPr>
            <p:ph type="dt" sz="half" idx="10"/>
          </p:nvPr>
        </p:nvSpPr>
        <p:spPr/>
        <p:txBody>
          <a:bodyPr/>
          <a:lstStyle/>
          <a:p>
            <a:fld id="{D69C10DB-6D70-6041-91FC-4B7530801A89}" type="datetimeFigureOut">
              <a:rPr lang="en-US" smtClean="0"/>
              <a:t>5/24/26</a:t>
            </a:fld>
            <a:endParaRPr lang="en-US"/>
          </a:p>
        </p:txBody>
      </p:sp>
      <p:sp>
        <p:nvSpPr>
          <p:cNvPr id="6" name="Footer Placeholder 5">
            <a:extLst>
              <a:ext uri="{FF2B5EF4-FFF2-40B4-BE49-F238E27FC236}">
                <a16:creationId xmlns:a16="http://schemas.microsoft.com/office/drawing/2014/main" id="{C5A120DB-90AF-CFCC-E085-D1E5274522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ACC439-6153-C6BF-9DE1-E190418AEC04}"/>
              </a:ext>
            </a:extLst>
          </p:cNvPr>
          <p:cNvSpPr>
            <a:spLocks noGrp="1"/>
          </p:cNvSpPr>
          <p:nvPr>
            <p:ph type="sldNum" sz="quarter" idx="12"/>
          </p:nvPr>
        </p:nvSpPr>
        <p:spPr/>
        <p:txBody>
          <a:bodyPr/>
          <a:lstStyle/>
          <a:p>
            <a:fld id="{FB8D7CCC-8C82-1E49-8BF5-4A35792FB178}" type="slidenum">
              <a:rPr lang="en-US" smtClean="0"/>
              <a:t>‹#›</a:t>
            </a:fld>
            <a:endParaRPr lang="en-US"/>
          </a:p>
        </p:txBody>
      </p:sp>
    </p:spTree>
    <p:extLst>
      <p:ext uri="{BB962C8B-B14F-4D97-AF65-F5344CB8AC3E}">
        <p14:creationId xmlns:p14="http://schemas.microsoft.com/office/powerpoint/2010/main" val="873067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27B3-D488-2D33-C071-F2B5E82A08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FFF7B95-A0A8-1EE2-F306-D00B738B26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7AE3DB8-4228-1B78-9061-AC128EA928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A5468E-6377-3B69-7889-35EF26B19590}"/>
              </a:ext>
            </a:extLst>
          </p:cNvPr>
          <p:cNvSpPr>
            <a:spLocks noGrp="1"/>
          </p:cNvSpPr>
          <p:nvPr>
            <p:ph type="dt" sz="half" idx="10"/>
          </p:nvPr>
        </p:nvSpPr>
        <p:spPr/>
        <p:txBody>
          <a:bodyPr/>
          <a:lstStyle/>
          <a:p>
            <a:fld id="{D69C10DB-6D70-6041-91FC-4B7530801A89}" type="datetimeFigureOut">
              <a:rPr lang="en-US" smtClean="0"/>
              <a:t>5/24/26</a:t>
            </a:fld>
            <a:endParaRPr lang="en-US"/>
          </a:p>
        </p:txBody>
      </p:sp>
      <p:sp>
        <p:nvSpPr>
          <p:cNvPr id="6" name="Footer Placeholder 5">
            <a:extLst>
              <a:ext uri="{FF2B5EF4-FFF2-40B4-BE49-F238E27FC236}">
                <a16:creationId xmlns:a16="http://schemas.microsoft.com/office/drawing/2014/main" id="{29589D7E-F440-330B-44A1-DA146B982C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C4B73B-CE4C-A254-0D87-461CF3545710}"/>
              </a:ext>
            </a:extLst>
          </p:cNvPr>
          <p:cNvSpPr>
            <a:spLocks noGrp="1"/>
          </p:cNvSpPr>
          <p:nvPr>
            <p:ph type="sldNum" sz="quarter" idx="12"/>
          </p:nvPr>
        </p:nvSpPr>
        <p:spPr/>
        <p:txBody>
          <a:bodyPr/>
          <a:lstStyle/>
          <a:p>
            <a:fld id="{FB8D7CCC-8C82-1E49-8BF5-4A35792FB178}" type="slidenum">
              <a:rPr lang="en-US" smtClean="0"/>
              <a:t>‹#›</a:t>
            </a:fld>
            <a:endParaRPr lang="en-US"/>
          </a:p>
        </p:txBody>
      </p:sp>
    </p:spTree>
    <p:extLst>
      <p:ext uri="{BB962C8B-B14F-4D97-AF65-F5344CB8AC3E}">
        <p14:creationId xmlns:p14="http://schemas.microsoft.com/office/powerpoint/2010/main" val="884084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2929A-D870-FFDF-1DC1-A81E6C27CB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34AA571-C640-28F3-9FEF-100F093FEC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2C33A0-4F03-3A14-ED3D-D44C2B31673A}"/>
              </a:ext>
            </a:extLst>
          </p:cNvPr>
          <p:cNvSpPr>
            <a:spLocks noGrp="1"/>
          </p:cNvSpPr>
          <p:nvPr>
            <p:ph type="dt" sz="half" idx="10"/>
          </p:nvPr>
        </p:nvSpPr>
        <p:spPr/>
        <p:txBody>
          <a:bodyPr/>
          <a:lstStyle/>
          <a:p>
            <a:fld id="{D69C10DB-6D70-6041-91FC-4B7530801A89}" type="datetimeFigureOut">
              <a:rPr lang="en-US" smtClean="0"/>
              <a:t>5/24/26</a:t>
            </a:fld>
            <a:endParaRPr lang="en-US"/>
          </a:p>
        </p:txBody>
      </p:sp>
      <p:sp>
        <p:nvSpPr>
          <p:cNvPr id="5" name="Footer Placeholder 4">
            <a:extLst>
              <a:ext uri="{FF2B5EF4-FFF2-40B4-BE49-F238E27FC236}">
                <a16:creationId xmlns:a16="http://schemas.microsoft.com/office/drawing/2014/main" id="{7B69B4D2-E3F6-0383-2F40-457403E56F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22B2B2-612F-3675-B9D2-28876C3C8421}"/>
              </a:ext>
            </a:extLst>
          </p:cNvPr>
          <p:cNvSpPr>
            <a:spLocks noGrp="1"/>
          </p:cNvSpPr>
          <p:nvPr>
            <p:ph type="sldNum" sz="quarter" idx="12"/>
          </p:nvPr>
        </p:nvSpPr>
        <p:spPr/>
        <p:txBody>
          <a:bodyPr/>
          <a:lstStyle/>
          <a:p>
            <a:fld id="{FB8D7CCC-8C82-1E49-8BF5-4A35792FB178}" type="slidenum">
              <a:rPr lang="en-US" smtClean="0"/>
              <a:t>‹#›</a:t>
            </a:fld>
            <a:endParaRPr lang="en-US"/>
          </a:p>
        </p:txBody>
      </p:sp>
    </p:spTree>
    <p:extLst>
      <p:ext uri="{BB962C8B-B14F-4D97-AF65-F5344CB8AC3E}">
        <p14:creationId xmlns:p14="http://schemas.microsoft.com/office/powerpoint/2010/main" val="3799998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8C034DA-8923-5A45-65E5-E3E82078B5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A42C28-E8DF-E45E-FF4F-090CC66FD7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2166E6-0FEF-F015-3208-146EC8486ADD}"/>
              </a:ext>
            </a:extLst>
          </p:cNvPr>
          <p:cNvSpPr>
            <a:spLocks noGrp="1"/>
          </p:cNvSpPr>
          <p:nvPr>
            <p:ph type="dt" sz="half" idx="10"/>
          </p:nvPr>
        </p:nvSpPr>
        <p:spPr/>
        <p:txBody>
          <a:bodyPr/>
          <a:lstStyle/>
          <a:p>
            <a:fld id="{D69C10DB-6D70-6041-91FC-4B7530801A89}" type="datetimeFigureOut">
              <a:rPr lang="en-US" smtClean="0"/>
              <a:t>5/24/26</a:t>
            </a:fld>
            <a:endParaRPr lang="en-US"/>
          </a:p>
        </p:txBody>
      </p:sp>
      <p:sp>
        <p:nvSpPr>
          <p:cNvPr id="5" name="Footer Placeholder 4">
            <a:extLst>
              <a:ext uri="{FF2B5EF4-FFF2-40B4-BE49-F238E27FC236}">
                <a16:creationId xmlns:a16="http://schemas.microsoft.com/office/drawing/2014/main" id="{8F7F6E79-305A-EF67-AC20-156B8D9B00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CAB88-9F28-B68F-AC3F-79BB1A897E20}"/>
              </a:ext>
            </a:extLst>
          </p:cNvPr>
          <p:cNvSpPr>
            <a:spLocks noGrp="1"/>
          </p:cNvSpPr>
          <p:nvPr>
            <p:ph type="sldNum" sz="quarter" idx="12"/>
          </p:nvPr>
        </p:nvSpPr>
        <p:spPr/>
        <p:txBody>
          <a:bodyPr/>
          <a:lstStyle/>
          <a:p>
            <a:fld id="{FB8D7CCC-8C82-1E49-8BF5-4A35792FB178}" type="slidenum">
              <a:rPr lang="en-US" smtClean="0"/>
              <a:t>‹#›</a:t>
            </a:fld>
            <a:endParaRPr lang="en-US"/>
          </a:p>
        </p:txBody>
      </p:sp>
    </p:spTree>
    <p:extLst>
      <p:ext uri="{BB962C8B-B14F-4D97-AF65-F5344CB8AC3E}">
        <p14:creationId xmlns:p14="http://schemas.microsoft.com/office/powerpoint/2010/main" val="2795775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C509C6-A229-87D6-0337-A6D639ED50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97078CB-E7A4-8676-E5DE-B6E5E53083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9200AB-6D4A-1F10-FCA6-48C5F94622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9C10DB-6D70-6041-91FC-4B7530801A89}" type="datetimeFigureOut">
              <a:rPr lang="en-US" smtClean="0"/>
              <a:t>5/24/26</a:t>
            </a:fld>
            <a:endParaRPr lang="en-US"/>
          </a:p>
        </p:txBody>
      </p:sp>
      <p:sp>
        <p:nvSpPr>
          <p:cNvPr id="5" name="Footer Placeholder 4">
            <a:extLst>
              <a:ext uri="{FF2B5EF4-FFF2-40B4-BE49-F238E27FC236}">
                <a16:creationId xmlns:a16="http://schemas.microsoft.com/office/drawing/2014/main" id="{A2BFFDD2-33BA-4B73-A165-218A79771A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CD96D60-2114-17E7-9FA0-ABBB858DCB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B8D7CCC-8C82-1E49-8BF5-4A35792FB178}" type="slidenum">
              <a:rPr lang="en-US" smtClean="0"/>
              <a:t>‹#›</a:t>
            </a:fld>
            <a:endParaRPr lang="en-US"/>
          </a:p>
        </p:txBody>
      </p:sp>
    </p:spTree>
    <p:extLst>
      <p:ext uri="{BB962C8B-B14F-4D97-AF65-F5344CB8AC3E}">
        <p14:creationId xmlns:p14="http://schemas.microsoft.com/office/powerpoint/2010/main" val="2445992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hamjac5334/Portfolio/tree/main/Data_Analysis/Capital_Bikeshar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hamjac5334/Portfolio/tree/main/Data_Analysis/Capital_Bikeshar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alpha val="8416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F5E53-8B8E-CC2F-4F51-7D88A152D9EB}"/>
              </a:ext>
            </a:extLst>
          </p:cNvPr>
          <p:cNvSpPr>
            <a:spLocks noGrp="1"/>
          </p:cNvSpPr>
          <p:nvPr>
            <p:ph type="ctrTitle"/>
          </p:nvPr>
        </p:nvSpPr>
        <p:spPr>
          <a:xfrm>
            <a:off x="-67463" y="734416"/>
            <a:ext cx="12326911" cy="1909763"/>
          </a:xfrm>
        </p:spPr>
        <p:txBody>
          <a:bodyPr>
            <a:noAutofit/>
          </a:bodyPr>
          <a:lstStyle/>
          <a:p>
            <a:r>
              <a:rPr lang="en-US" sz="5600" dirty="0">
                <a:solidFill>
                  <a:schemeClr val="tx2">
                    <a:lumMod val="90000"/>
                    <a:lumOff val="10000"/>
                  </a:schemeClr>
                </a:solidFill>
                <a:latin typeface="Helvetica" pitchFamily="2" charset="0"/>
              </a:rPr>
              <a:t>Converting Casual Riders to Annual Members at Capital Bikeshare</a:t>
            </a:r>
          </a:p>
        </p:txBody>
      </p:sp>
      <p:sp>
        <p:nvSpPr>
          <p:cNvPr id="3" name="Subtitle 2">
            <a:extLst>
              <a:ext uri="{FF2B5EF4-FFF2-40B4-BE49-F238E27FC236}">
                <a16:creationId xmlns:a16="http://schemas.microsoft.com/office/drawing/2014/main" id="{79B4ADEA-E50F-458E-EA0F-0922AB55B2E0}"/>
              </a:ext>
            </a:extLst>
          </p:cNvPr>
          <p:cNvSpPr>
            <a:spLocks noGrp="1"/>
          </p:cNvSpPr>
          <p:nvPr>
            <p:ph type="subTitle" idx="1"/>
          </p:nvPr>
        </p:nvSpPr>
        <p:spPr>
          <a:xfrm>
            <a:off x="1055878" y="3255374"/>
            <a:ext cx="10080230" cy="543393"/>
          </a:xfrm>
        </p:spPr>
        <p:txBody>
          <a:bodyPr>
            <a:noAutofit/>
          </a:bodyPr>
          <a:lstStyle/>
          <a:p>
            <a:r>
              <a:rPr lang="en-US" sz="3000" dirty="0">
                <a:solidFill>
                  <a:schemeClr val="tx2">
                    <a:lumMod val="90000"/>
                    <a:lumOff val="10000"/>
                  </a:schemeClr>
                </a:solidFill>
                <a:latin typeface="Helvetica" pitchFamily="2" charset="0"/>
              </a:rPr>
              <a:t>Data-Driven Station Targeting Strategy</a:t>
            </a:r>
          </a:p>
        </p:txBody>
      </p:sp>
      <p:sp>
        <p:nvSpPr>
          <p:cNvPr id="5" name="TextBox 4">
            <a:extLst>
              <a:ext uri="{FF2B5EF4-FFF2-40B4-BE49-F238E27FC236}">
                <a16:creationId xmlns:a16="http://schemas.microsoft.com/office/drawing/2014/main" id="{A88D5CD9-75D9-E56C-91EA-2CC0E518C9DF}"/>
              </a:ext>
            </a:extLst>
          </p:cNvPr>
          <p:cNvSpPr txBox="1"/>
          <p:nvPr/>
        </p:nvSpPr>
        <p:spPr>
          <a:xfrm>
            <a:off x="444702" y="4409962"/>
            <a:ext cx="11302583" cy="1200329"/>
          </a:xfrm>
          <a:prstGeom prst="rect">
            <a:avLst/>
          </a:prstGeom>
          <a:noFill/>
        </p:spPr>
        <p:txBody>
          <a:bodyPr wrap="square">
            <a:spAutoFit/>
          </a:bodyPr>
          <a:lstStyle/>
          <a:p>
            <a:pPr algn="ctr"/>
            <a:r>
              <a:rPr lang="en-US" sz="2400" dirty="0">
                <a:solidFill>
                  <a:schemeClr val="tx2">
                    <a:lumMod val="90000"/>
                    <a:lumOff val="10000"/>
                  </a:schemeClr>
                </a:solidFill>
                <a:latin typeface="Helvetica" pitchFamily="2" charset="0"/>
              </a:rPr>
              <a:t>Five high yield stations identified in the upper Northwest DC corridor. A validated pilot scales to an estimated 1,060 new annual members and an estimated $127,000 ARR systemwide</a:t>
            </a:r>
          </a:p>
        </p:txBody>
      </p:sp>
      <p:sp>
        <p:nvSpPr>
          <p:cNvPr id="7" name="TextBox 6">
            <a:extLst>
              <a:ext uri="{FF2B5EF4-FFF2-40B4-BE49-F238E27FC236}">
                <a16:creationId xmlns:a16="http://schemas.microsoft.com/office/drawing/2014/main" id="{B2C829D5-A6EE-4CCC-5A8C-4A4C3FF00DD3}"/>
              </a:ext>
            </a:extLst>
          </p:cNvPr>
          <p:cNvSpPr txBox="1"/>
          <p:nvPr/>
        </p:nvSpPr>
        <p:spPr>
          <a:xfrm>
            <a:off x="3255626" y="6221486"/>
            <a:ext cx="9003822" cy="369332"/>
          </a:xfrm>
          <a:prstGeom prst="rect">
            <a:avLst/>
          </a:prstGeom>
          <a:noFill/>
        </p:spPr>
        <p:txBody>
          <a:bodyPr wrap="square">
            <a:spAutoFit/>
          </a:bodyPr>
          <a:lstStyle/>
          <a:p>
            <a:r>
              <a:rPr lang="en-US" dirty="0">
                <a:solidFill>
                  <a:schemeClr val="tx2">
                    <a:lumMod val="90000"/>
                    <a:lumOff val="10000"/>
                  </a:schemeClr>
                </a:solidFill>
                <a:latin typeface="Helvetica" pitchFamily="2" charset="0"/>
              </a:rPr>
              <a:t>Jack Hamilton  5/26/26  </a:t>
            </a:r>
            <a:r>
              <a:rPr lang="en-US" dirty="0">
                <a:solidFill>
                  <a:schemeClr val="tx2">
                    <a:lumMod val="90000"/>
                    <a:lumOff val="10000"/>
                  </a:schemeClr>
                </a:solidFill>
                <a:latin typeface="Helvetica" pitchFamily="2" charset="0"/>
                <a:hlinkClick r:id="rId2"/>
              </a:rPr>
              <a:t>https://github.com/hamjac5334/Portfolio/</a:t>
            </a:r>
            <a:endParaRPr lang="en-US" dirty="0">
              <a:solidFill>
                <a:schemeClr val="tx2">
                  <a:lumMod val="90000"/>
                  <a:lumOff val="10000"/>
                </a:schemeClr>
              </a:solidFill>
              <a:latin typeface="Helvetica" pitchFamily="2" charset="0"/>
            </a:endParaRPr>
          </a:p>
        </p:txBody>
      </p:sp>
    </p:spTree>
    <p:extLst>
      <p:ext uri="{BB962C8B-B14F-4D97-AF65-F5344CB8AC3E}">
        <p14:creationId xmlns:p14="http://schemas.microsoft.com/office/powerpoint/2010/main" val="1298142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alpha val="84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CEFD2-3145-E3A9-5ECB-4617113A6AC3}"/>
              </a:ext>
            </a:extLst>
          </p:cNvPr>
          <p:cNvSpPr>
            <a:spLocks noGrp="1"/>
          </p:cNvSpPr>
          <p:nvPr>
            <p:ph type="title"/>
          </p:nvPr>
        </p:nvSpPr>
        <p:spPr>
          <a:xfrm>
            <a:off x="25273" y="105847"/>
            <a:ext cx="12141451" cy="1973341"/>
          </a:xfrm>
        </p:spPr>
        <p:txBody>
          <a:bodyPr>
            <a:normAutofit/>
          </a:bodyPr>
          <a:lstStyle/>
          <a:p>
            <a:pPr algn="ctr"/>
            <a:r>
              <a:rPr lang="en-US" sz="2400" dirty="0">
                <a:solidFill>
                  <a:schemeClr val="tx2">
                    <a:lumMod val="90000"/>
                    <a:lumOff val="10000"/>
                  </a:schemeClr>
                </a:solidFill>
                <a:latin typeface="Helvetica" pitchFamily="2" charset="0"/>
              </a:rPr>
              <a:t>Capital Bikeshare leaves recurring revenue on the table: around 30% of rides are casual, behave like members</a:t>
            </a:r>
          </a:p>
        </p:txBody>
      </p:sp>
      <p:sp>
        <p:nvSpPr>
          <p:cNvPr id="5" name="TextBox 4">
            <a:extLst>
              <a:ext uri="{FF2B5EF4-FFF2-40B4-BE49-F238E27FC236}">
                <a16:creationId xmlns:a16="http://schemas.microsoft.com/office/drawing/2014/main" id="{5D1F1AD3-E668-FE46-12AD-2BCC93A16152}"/>
              </a:ext>
            </a:extLst>
          </p:cNvPr>
          <p:cNvSpPr txBox="1"/>
          <p:nvPr/>
        </p:nvSpPr>
        <p:spPr>
          <a:xfrm>
            <a:off x="63185" y="1546434"/>
            <a:ext cx="12090902" cy="5632311"/>
          </a:xfrm>
          <a:prstGeom prst="rect">
            <a:avLst/>
          </a:prstGeom>
          <a:noFill/>
        </p:spPr>
        <p:txBody>
          <a:bodyPr wrap="square" rtlCol="0">
            <a:spAutoFit/>
          </a:bodyPr>
          <a:lstStyle/>
          <a:p>
            <a:pPr algn="ctr"/>
            <a:r>
              <a:rPr lang="en-US" b="1" dirty="0">
                <a:solidFill>
                  <a:schemeClr val="tx2">
                    <a:lumMod val="90000"/>
                    <a:lumOff val="10000"/>
                  </a:schemeClr>
                </a:solidFill>
                <a:latin typeface="Helvetica" pitchFamily="2" charset="0"/>
              </a:rPr>
              <a:t>Situation</a:t>
            </a:r>
          </a:p>
          <a:p>
            <a:r>
              <a:rPr lang="en-US" dirty="0">
                <a:latin typeface="Helvetica" pitchFamily="2" charset="0"/>
              </a:rPr>
              <a:t>Capital Bikeshare operates over 6 million trips per year across the DC region. Annual members generate predictable recurring revenue; casual riders pay per ride and represent around 30% of trips, a substantial pool of repeat behavior that converts only sporadically</a:t>
            </a:r>
          </a:p>
          <a:p>
            <a:endParaRPr lang="en-US" dirty="0">
              <a:latin typeface="Helvetica" pitchFamily="2" charset="0"/>
            </a:endParaRPr>
          </a:p>
          <a:p>
            <a:endParaRPr lang="en-US" dirty="0">
              <a:latin typeface="Helvetica" pitchFamily="2" charset="0"/>
            </a:endParaRPr>
          </a:p>
          <a:p>
            <a:pPr algn="ctr"/>
            <a:r>
              <a:rPr lang="en-US" b="1" dirty="0">
                <a:solidFill>
                  <a:schemeClr val="tx2">
                    <a:lumMod val="90000"/>
                    <a:lumOff val="10000"/>
                  </a:schemeClr>
                </a:solidFill>
                <a:latin typeface="Helvetica" pitchFamily="2" charset="0"/>
              </a:rPr>
              <a:t>Complication</a:t>
            </a:r>
            <a:endParaRPr lang="en-US" dirty="0">
              <a:solidFill>
                <a:schemeClr val="tx2">
                  <a:lumMod val="90000"/>
                  <a:lumOff val="10000"/>
                </a:schemeClr>
              </a:solidFill>
              <a:latin typeface="Helvetica" pitchFamily="2" charset="0"/>
            </a:endParaRPr>
          </a:p>
          <a:p>
            <a:r>
              <a:rPr lang="en-US" dirty="0">
                <a:latin typeface="Helvetica" pitchFamily="2" charset="0"/>
              </a:rPr>
              <a:t>Without user IDs in the public dataset, traditional conversion analysis is blocked. The dataset records rides, not riders, meaning the unit of observation is the trip, not the customer</a:t>
            </a:r>
          </a:p>
          <a:p>
            <a:endParaRPr lang="en-US" dirty="0">
              <a:latin typeface="Helvetica" pitchFamily="2" charset="0"/>
            </a:endParaRPr>
          </a:p>
          <a:p>
            <a:endParaRPr lang="en-US" dirty="0">
              <a:latin typeface="Helvetica" pitchFamily="2" charset="0"/>
            </a:endParaRPr>
          </a:p>
          <a:p>
            <a:pPr algn="ctr"/>
            <a:r>
              <a:rPr lang="en-US" b="1" dirty="0">
                <a:solidFill>
                  <a:schemeClr val="tx2">
                    <a:lumMod val="90000"/>
                    <a:lumOff val="10000"/>
                  </a:schemeClr>
                </a:solidFill>
                <a:latin typeface="Helvetica" pitchFamily="2" charset="0"/>
              </a:rPr>
              <a:t>Question</a:t>
            </a:r>
            <a:endParaRPr lang="en-US" dirty="0">
              <a:solidFill>
                <a:schemeClr val="tx2">
                  <a:lumMod val="90000"/>
                  <a:lumOff val="10000"/>
                </a:schemeClr>
              </a:solidFill>
              <a:latin typeface="Helvetica" pitchFamily="2" charset="0"/>
            </a:endParaRPr>
          </a:p>
          <a:p>
            <a:r>
              <a:rPr lang="en-US" dirty="0">
                <a:latin typeface="Helvetica" pitchFamily="2" charset="0"/>
              </a:rPr>
              <a:t>Which 3–5 stations represent the highest ROI targets for a casual to member conversion campaign?</a:t>
            </a:r>
          </a:p>
          <a:p>
            <a:endParaRPr lang="en-US" dirty="0">
              <a:latin typeface="Helvetica" pitchFamily="2" charset="0"/>
            </a:endParaRPr>
          </a:p>
          <a:p>
            <a:endParaRPr lang="en-US" dirty="0">
              <a:latin typeface="Helvetica" pitchFamily="2" charset="0"/>
            </a:endParaRPr>
          </a:p>
          <a:p>
            <a:pPr algn="ctr"/>
            <a:r>
              <a:rPr lang="en-US" b="1" dirty="0">
                <a:solidFill>
                  <a:schemeClr val="tx2">
                    <a:lumMod val="90000"/>
                    <a:lumOff val="10000"/>
                  </a:schemeClr>
                </a:solidFill>
                <a:latin typeface="Helvetica" pitchFamily="2" charset="0"/>
              </a:rPr>
              <a:t>Analytical Pivot</a:t>
            </a:r>
          </a:p>
          <a:p>
            <a:r>
              <a:rPr lang="en-US" dirty="0">
                <a:latin typeface="Helvetica" pitchFamily="2" charset="0"/>
              </a:rPr>
              <a:t> Analysis operates at the ride level via behavioral signatures, not individual user tracking. Rides with temporal and trip patterns resemble member ridership flag the conversion opportunity even without seeing the rider</a:t>
            </a:r>
          </a:p>
          <a:p>
            <a:endParaRPr lang="en-US" dirty="0">
              <a:latin typeface="Helvetica" pitchFamily="2" charset="0"/>
            </a:endParaRPr>
          </a:p>
          <a:p>
            <a:endParaRPr lang="en-US" dirty="0">
              <a:latin typeface="Helvetica" pitchFamily="2" charset="0"/>
            </a:endParaRPr>
          </a:p>
        </p:txBody>
      </p:sp>
      <p:sp>
        <p:nvSpPr>
          <p:cNvPr id="11" name="Rectangle 10">
            <a:extLst>
              <a:ext uri="{FF2B5EF4-FFF2-40B4-BE49-F238E27FC236}">
                <a16:creationId xmlns:a16="http://schemas.microsoft.com/office/drawing/2014/main" id="{10C84AA2-6CB0-D33C-38F4-05EFA3DED536}"/>
              </a:ext>
            </a:extLst>
          </p:cNvPr>
          <p:cNvSpPr/>
          <p:nvPr/>
        </p:nvSpPr>
        <p:spPr>
          <a:xfrm>
            <a:off x="37911" y="1552578"/>
            <a:ext cx="12116176" cy="1146507"/>
          </a:xfrm>
          <a:prstGeom prst="rect">
            <a:avLst/>
          </a:prstGeom>
          <a:solidFill>
            <a:schemeClr val="accent1">
              <a:alpha val="1226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B2249B7-B244-B397-8A52-F743CB742754}"/>
              </a:ext>
            </a:extLst>
          </p:cNvPr>
          <p:cNvSpPr/>
          <p:nvPr/>
        </p:nvSpPr>
        <p:spPr>
          <a:xfrm>
            <a:off x="25272" y="4529777"/>
            <a:ext cx="12116176" cy="799545"/>
          </a:xfrm>
          <a:prstGeom prst="rect">
            <a:avLst/>
          </a:prstGeom>
          <a:solidFill>
            <a:schemeClr val="accent1">
              <a:alpha val="1226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472A656-1576-1869-9004-2405DD9BB8BA}"/>
              </a:ext>
            </a:extLst>
          </p:cNvPr>
          <p:cNvSpPr/>
          <p:nvPr/>
        </p:nvSpPr>
        <p:spPr>
          <a:xfrm>
            <a:off x="37911" y="3011794"/>
            <a:ext cx="12116176" cy="1146507"/>
          </a:xfrm>
          <a:prstGeom prst="rect">
            <a:avLst/>
          </a:prstGeom>
          <a:solidFill>
            <a:schemeClr val="accent1">
              <a:alpha val="1226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0B70AF82-38E6-F92D-E0B4-2E6A279723DB}"/>
              </a:ext>
            </a:extLst>
          </p:cNvPr>
          <p:cNvSpPr/>
          <p:nvPr/>
        </p:nvSpPr>
        <p:spPr>
          <a:xfrm>
            <a:off x="25272" y="5653966"/>
            <a:ext cx="12116176" cy="1000277"/>
          </a:xfrm>
          <a:prstGeom prst="rect">
            <a:avLst/>
          </a:prstGeom>
          <a:solidFill>
            <a:schemeClr val="accent1">
              <a:alpha val="1226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2EF999C6-2262-84BC-366C-336C4A9B2657}"/>
              </a:ext>
            </a:extLst>
          </p:cNvPr>
          <p:cNvCxnSpPr/>
          <p:nvPr/>
        </p:nvCxnSpPr>
        <p:spPr>
          <a:xfrm>
            <a:off x="6096000" y="2699700"/>
            <a:ext cx="0" cy="323414"/>
          </a:xfrm>
          <a:prstGeom prst="straightConnector1">
            <a:avLst/>
          </a:prstGeom>
          <a:ln w="41275">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2B84B10B-318F-B939-9F2A-079C73121B46}"/>
              </a:ext>
            </a:extLst>
          </p:cNvPr>
          <p:cNvCxnSpPr/>
          <p:nvPr/>
        </p:nvCxnSpPr>
        <p:spPr>
          <a:xfrm>
            <a:off x="6096000" y="4188607"/>
            <a:ext cx="0" cy="323414"/>
          </a:xfrm>
          <a:prstGeom prst="straightConnector1">
            <a:avLst/>
          </a:prstGeom>
          <a:ln w="41275">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58077491-501A-72D5-5307-0D79FE4E4990}"/>
              </a:ext>
            </a:extLst>
          </p:cNvPr>
          <p:cNvCxnSpPr/>
          <p:nvPr/>
        </p:nvCxnSpPr>
        <p:spPr>
          <a:xfrm>
            <a:off x="6096000" y="5330552"/>
            <a:ext cx="0" cy="323414"/>
          </a:xfrm>
          <a:prstGeom prst="straightConnector1">
            <a:avLst/>
          </a:prstGeom>
          <a:ln w="41275">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7E886D71-55E9-784E-905B-76A969A6B59E}"/>
              </a:ext>
            </a:extLst>
          </p:cNvPr>
          <p:cNvSpPr txBox="1"/>
          <p:nvPr/>
        </p:nvSpPr>
        <p:spPr>
          <a:xfrm>
            <a:off x="3710076" y="168873"/>
            <a:ext cx="6109854" cy="584775"/>
          </a:xfrm>
          <a:prstGeom prst="rect">
            <a:avLst/>
          </a:prstGeom>
          <a:noFill/>
        </p:spPr>
        <p:txBody>
          <a:bodyPr wrap="square">
            <a:spAutoFit/>
          </a:bodyPr>
          <a:lstStyle/>
          <a:p>
            <a:r>
              <a:rPr lang="en-US" sz="3200" dirty="0">
                <a:solidFill>
                  <a:schemeClr val="tx2">
                    <a:lumMod val="90000"/>
                    <a:lumOff val="10000"/>
                  </a:schemeClr>
                </a:solidFill>
                <a:latin typeface="Helvetica" pitchFamily="2" charset="0"/>
              </a:rPr>
              <a:t>The Business Question</a:t>
            </a:r>
            <a:endParaRPr lang="en-US" sz="3200" dirty="0"/>
          </a:p>
        </p:txBody>
      </p:sp>
    </p:spTree>
    <p:extLst>
      <p:ext uri="{BB962C8B-B14F-4D97-AF65-F5344CB8AC3E}">
        <p14:creationId xmlns:p14="http://schemas.microsoft.com/office/powerpoint/2010/main" val="1984725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alpha val="84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06457-1844-11E6-6C6C-88A0B84D65FD}"/>
              </a:ext>
            </a:extLst>
          </p:cNvPr>
          <p:cNvSpPr>
            <a:spLocks noGrp="1"/>
          </p:cNvSpPr>
          <p:nvPr>
            <p:ph type="title"/>
          </p:nvPr>
        </p:nvSpPr>
        <p:spPr>
          <a:xfrm>
            <a:off x="838200" y="1302426"/>
            <a:ext cx="11198902" cy="1049311"/>
          </a:xfrm>
        </p:spPr>
        <p:txBody>
          <a:bodyPr>
            <a:normAutofit fontScale="90000"/>
          </a:bodyPr>
          <a:lstStyle/>
          <a:p>
            <a:r>
              <a:rPr lang="en-US" sz="2700" dirty="0">
                <a:solidFill>
                  <a:schemeClr val="tx2">
                    <a:lumMod val="90000"/>
                    <a:lumOff val="10000"/>
                  </a:schemeClr>
                </a:solidFill>
                <a:latin typeface="Helvetica" pitchFamily="2" charset="0"/>
              </a:rPr>
              <a:t>A gradient boosting classifier learns the behavioral identity of member ridership and scores every casual ride against it</a:t>
            </a:r>
            <a:br>
              <a:rPr lang="en-US" sz="3100" dirty="0">
                <a:solidFill>
                  <a:schemeClr val="tx2">
                    <a:lumMod val="90000"/>
                    <a:lumOff val="10000"/>
                  </a:schemeClr>
                </a:solidFill>
                <a:latin typeface="Helvetica" pitchFamily="2" charset="0"/>
              </a:rPr>
            </a:br>
            <a:br>
              <a:rPr lang="en-US" dirty="0">
                <a:solidFill>
                  <a:schemeClr val="tx2">
                    <a:lumMod val="90000"/>
                    <a:lumOff val="10000"/>
                  </a:schemeClr>
                </a:solidFill>
                <a:latin typeface="Helvetica" pitchFamily="2" charset="0"/>
              </a:rPr>
            </a:br>
            <a:endParaRPr lang="en-US" dirty="0"/>
          </a:p>
        </p:txBody>
      </p:sp>
      <p:sp>
        <p:nvSpPr>
          <p:cNvPr id="3" name="Content Placeholder 2">
            <a:extLst>
              <a:ext uri="{FF2B5EF4-FFF2-40B4-BE49-F238E27FC236}">
                <a16:creationId xmlns:a16="http://schemas.microsoft.com/office/drawing/2014/main" id="{E5035AB8-545A-FC09-802B-B877B346FF0D}"/>
              </a:ext>
            </a:extLst>
          </p:cNvPr>
          <p:cNvSpPr>
            <a:spLocks noGrp="1"/>
          </p:cNvSpPr>
          <p:nvPr>
            <p:ph idx="1"/>
          </p:nvPr>
        </p:nvSpPr>
        <p:spPr>
          <a:xfrm>
            <a:off x="154898" y="2094807"/>
            <a:ext cx="11540553" cy="4764650"/>
          </a:xfrm>
        </p:spPr>
        <p:txBody>
          <a:bodyPr>
            <a:normAutofit fontScale="92500" lnSpcReduction="20000"/>
          </a:bodyPr>
          <a:lstStyle/>
          <a:p>
            <a:pPr marL="514350" indent="-514350">
              <a:buFont typeface="+mj-lt"/>
              <a:buAutoNum type="arabicPeriod"/>
            </a:pPr>
            <a:r>
              <a:rPr lang="en-US" sz="2400" b="1" dirty="0">
                <a:latin typeface="Helvetica" pitchFamily="2" charset="0"/>
              </a:rPr>
              <a:t>Data:</a:t>
            </a:r>
            <a:r>
              <a:rPr lang="en-US" sz="2400" dirty="0">
                <a:latin typeface="Helvetica" pitchFamily="2" charset="0"/>
              </a:rPr>
              <a:t> 6.2M rides, 12 months (May 2025 – Apr 2026), 500 stations</a:t>
            </a:r>
          </a:p>
          <a:p>
            <a:pPr marL="514350" indent="-514350">
              <a:buFont typeface="+mj-lt"/>
              <a:buAutoNum type="arabicPeriod"/>
            </a:pPr>
            <a:endParaRPr lang="en-US" sz="2400" dirty="0">
              <a:latin typeface="Helvetica" pitchFamily="2" charset="0"/>
            </a:endParaRPr>
          </a:p>
          <a:p>
            <a:pPr marL="514350" indent="-514350">
              <a:buFont typeface="+mj-lt"/>
              <a:buAutoNum type="arabicPeriod"/>
            </a:pPr>
            <a:r>
              <a:rPr lang="en-US" sz="2400" b="1" dirty="0">
                <a:latin typeface="Helvetica" pitchFamily="2" charset="0"/>
              </a:rPr>
              <a:t>Cleaning: </a:t>
            </a:r>
            <a:r>
              <a:rPr lang="en-US" sz="2400" dirty="0">
                <a:latin typeface="Helvetica" pitchFamily="2" charset="0"/>
              </a:rPr>
              <a:t>2.3% rides dropped (duration outliers); systematic data quality audit</a:t>
            </a:r>
          </a:p>
          <a:p>
            <a:pPr marL="514350" indent="-514350">
              <a:buFont typeface="+mj-lt"/>
              <a:buAutoNum type="arabicPeriod"/>
            </a:pPr>
            <a:endParaRPr lang="en-US" sz="2400" dirty="0">
              <a:latin typeface="Helvetica" pitchFamily="2" charset="0"/>
            </a:endParaRPr>
          </a:p>
          <a:p>
            <a:pPr marL="514350" indent="-514350">
              <a:buFont typeface="+mj-lt"/>
              <a:buAutoNum type="arabicPeriod"/>
            </a:pPr>
            <a:r>
              <a:rPr lang="en-US" sz="2400" b="1" dirty="0">
                <a:latin typeface="Helvetica" pitchFamily="2" charset="0"/>
              </a:rPr>
              <a:t>Features:</a:t>
            </a:r>
            <a:r>
              <a:rPr lang="en-US" sz="2400" dirty="0">
                <a:latin typeface="Helvetica" pitchFamily="2" charset="0"/>
              </a:rPr>
              <a:t> 17 engineered features: temporal, trip-level, station aggregates</a:t>
            </a:r>
          </a:p>
          <a:p>
            <a:pPr marL="514350" indent="-514350">
              <a:buFont typeface="+mj-lt"/>
              <a:buAutoNum type="arabicPeriod"/>
            </a:pPr>
            <a:endParaRPr lang="en-US" sz="2400" dirty="0">
              <a:latin typeface="Helvetica" pitchFamily="2" charset="0"/>
            </a:endParaRPr>
          </a:p>
          <a:p>
            <a:pPr marL="514350" indent="-514350">
              <a:buFont typeface="+mj-lt"/>
              <a:buAutoNum type="arabicPeriod"/>
            </a:pPr>
            <a:r>
              <a:rPr lang="en-US" sz="2400" b="1" dirty="0">
                <a:latin typeface="Helvetica" pitchFamily="2" charset="0"/>
              </a:rPr>
              <a:t>Modeling:</a:t>
            </a:r>
            <a:r>
              <a:rPr lang="en-US" sz="2400" dirty="0">
                <a:latin typeface="Helvetica" pitchFamily="2" charset="0"/>
              </a:rPr>
              <a:t> chronological train/</a:t>
            </a:r>
            <a:r>
              <a:rPr lang="en-US" sz="2400" dirty="0" err="1">
                <a:latin typeface="Helvetica" pitchFamily="2" charset="0"/>
              </a:rPr>
              <a:t>val</a:t>
            </a:r>
            <a:r>
              <a:rPr lang="en-US" sz="2400" dirty="0">
                <a:latin typeface="Helvetica" pitchFamily="2" charset="0"/>
              </a:rPr>
              <a:t>/test split, </a:t>
            </a:r>
            <a:r>
              <a:rPr lang="en-US" sz="2400" dirty="0" err="1">
                <a:latin typeface="Helvetica" pitchFamily="2" charset="0"/>
              </a:rPr>
              <a:t>HistGradientBoostingClassifier</a:t>
            </a:r>
            <a:endParaRPr lang="en-US" sz="2400" dirty="0">
              <a:latin typeface="Helvetica" pitchFamily="2" charset="0"/>
            </a:endParaRPr>
          </a:p>
          <a:p>
            <a:pPr marL="514350" indent="-514350">
              <a:buFont typeface="+mj-lt"/>
              <a:buAutoNum type="arabicPeriod"/>
            </a:pPr>
            <a:endParaRPr lang="en-US" sz="2400" dirty="0">
              <a:latin typeface="Helvetica" pitchFamily="2" charset="0"/>
            </a:endParaRPr>
          </a:p>
          <a:p>
            <a:pPr marL="514350" indent="-514350">
              <a:buFont typeface="+mj-lt"/>
              <a:buAutoNum type="arabicPeriod"/>
            </a:pPr>
            <a:r>
              <a:rPr lang="en-US" sz="2400" b="1" dirty="0">
                <a:latin typeface="Helvetica" pitchFamily="2" charset="0"/>
              </a:rPr>
              <a:t>Outcome:</a:t>
            </a:r>
            <a:r>
              <a:rPr lang="en-US" sz="2400" dirty="0">
                <a:latin typeface="Helvetica" pitchFamily="2" charset="0"/>
              </a:rPr>
              <a:t> ROC AUC = 0.73 on validation; Cramér's V = 0.21 for rush-hour effect</a:t>
            </a:r>
          </a:p>
          <a:p>
            <a:pPr marL="514350" indent="-514350">
              <a:buFont typeface="+mj-lt"/>
              <a:buAutoNum type="arabicPeriod"/>
            </a:pPr>
            <a:endParaRPr lang="en-US" sz="2400" dirty="0">
              <a:latin typeface="Helvetica" pitchFamily="2" charset="0"/>
            </a:endParaRPr>
          </a:p>
          <a:p>
            <a:pPr marL="0" indent="0">
              <a:buNone/>
            </a:pPr>
            <a:r>
              <a:rPr lang="en-US" sz="2400" dirty="0">
                <a:latin typeface="Helvetica" pitchFamily="2" charset="0"/>
              </a:rPr>
              <a:t>Note: AUC of 0.73 reflects real overlap between member and casual ride patterns. Effect sizes confirm meaningful behavioral differences; sample size makes p-values uninformative.</a:t>
            </a:r>
          </a:p>
          <a:p>
            <a:pPr marL="0" indent="0">
              <a:buNone/>
            </a:pPr>
            <a:endParaRPr lang="en-US" sz="2400" dirty="0">
              <a:latin typeface="Helvetica" pitchFamily="2" charset="0"/>
            </a:endParaRPr>
          </a:p>
          <a:p>
            <a:endParaRPr lang="en-US" sz="2400" dirty="0">
              <a:latin typeface="Helvetica" pitchFamily="2" charset="0"/>
            </a:endParaRPr>
          </a:p>
        </p:txBody>
      </p:sp>
      <p:sp>
        <p:nvSpPr>
          <p:cNvPr id="5" name="TextBox 4">
            <a:extLst>
              <a:ext uri="{FF2B5EF4-FFF2-40B4-BE49-F238E27FC236}">
                <a16:creationId xmlns:a16="http://schemas.microsoft.com/office/drawing/2014/main" id="{41E1E02D-7FEC-E9D7-ABFA-1D59C383A1C2}"/>
              </a:ext>
            </a:extLst>
          </p:cNvPr>
          <p:cNvSpPr txBox="1"/>
          <p:nvPr/>
        </p:nvSpPr>
        <p:spPr>
          <a:xfrm>
            <a:off x="4463935" y="162936"/>
            <a:ext cx="6101542" cy="584775"/>
          </a:xfrm>
          <a:prstGeom prst="rect">
            <a:avLst/>
          </a:prstGeom>
          <a:noFill/>
        </p:spPr>
        <p:txBody>
          <a:bodyPr wrap="square">
            <a:spAutoFit/>
          </a:bodyPr>
          <a:lstStyle/>
          <a:p>
            <a:r>
              <a:rPr lang="en-US" sz="3200" dirty="0">
                <a:solidFill>
                  <a:schemeClr val="tx2">
                    <a:lumMod val="90000"/>
                    <a:lumOff val="10000"/>
                  </a:schemeClr>
                </a:solidFill>
                <a:latin typeface="Helvetica" pitchFamily="2" charset="0"/>
              </a:rPr>
              <a:t>The Approach</a:t>
            </a:r>
            <a:endParaRPr lang="en-US" sz="3200" dirty="0"/>
          </a:p>
        </p:txBody>
      </p:sp>
    </p:spTree>
    <p:extLst>
      <p:ext uri="{BB962C8B-B14F-4D97-AF65-F5344CB8AC3E}">
        <p14:creationId xmlns:p14="http://schemas.microsoft.com/office/powerpoint/2010/main" val="4138383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alpha val="84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98780-2B3B-1CFC-2944-719C5F8E5040}"/>
              </a:ext>
            </a:extLst>
          </p:cNvPr>
          <p:cNvSpPr>
            <a:spLocks noGrp="1"/>
          </p:cNvSpPr>
          <p:nvPr>
            <p:ph type="title"/>
          </p:nvPr>
        </p:nvSpPr>
        <p:spPr>
          <a:xfrm>
            <a:off x="943131" y="657513"/>
            <a:ext cx="10515600" cy="1325563"/>
          </a:xfrm>
        </p:spPr>
        <p:txBody>
          <a:bodyPr>
            <a:normAutofit/>
          </a:bodyPr>
          <a:lstStyle/>
          <a:p>
            <a:r>
              <a:rPr lang="en-US" sz="2400" dirty="0">
                <a:solidFill>
                  <a:schemeClr val="tx2">
                    <a:lumMod val="90000"/>
                    <a:lumOff val="10000"/>
                  </a:schemeClr>
                </a:solidFill>
                <a:latin typeface="Helvetica" pitchFamily="2" charset="0"/>
              </a:rPr>
              <a:t>Members typically ride in commute rhythm. Casuals typically ride in leisure rhythm, but are overlapping patterns</a:t>
            </a:r>
            <a:endParaRPr lang="en-US" sz="2400" dirty="0"/>
          </a:p>
        </p:txBody>
      </p:sp>
      <p:sp>
        <p:nvSpPr>
          <p:cNvPr id="3" name="Content Placeholder 2">
            <a:extLst>
              <a:ext uri="{FF2B5EF4-FFF2-40B4-BE49-F238E27FC236}">
                <a16:creationId xmlns:a16="http://schemas.microsoft.com/office/drawing/2014/main" id="{0EDFCBE1-EBEA-61C3-817B-3328C76B7986}"/>
              </a:ext>
            </a:extLst>
          </p:cNvPr>
          <p:cNvSpPr>
            <a:spLocks noGrp="1"/>
          </p:cNvSpPr>
          <p:nvPr>
            <p:ph idx="1"/>
          </p:nvPr>
        </p:nvSpPr>
        <p:spPr>
          <a:xfrm>
            <a:off x="556519" y="5773014"/>
            <a:ext cx="4603354" cy="644340"/>
          </a:xfrm>
        </p:spPr>
        <p:txBody>
          <a:bodyPr>
            <a:normAutofit/>
          </a:bodyPr>
          <a:lstStyle/>
          <a:p>
            <a:pPr marL="0" indent="0">
              <a:buNone/>
            </a:pPr>
            <a:r>
              <a:rPr lang="en-US" sz="1800" dirty="0"/>
              <a:t>Member panel: double-hump at 7–9am and 4–6pm, weekdays. </a:t>
            </a:r>
          </a:p>
        </p:txBody>
      </p:sp>
      <p:sp>
        <p:nvSpPr>
          <p:cNvPr id="5" name="TextBox 4">
            <a:extLst>
              <a:ext uri="{FF2B5EF4-FFF2-40B4-BE49-F238E27FC236}">
                <a16:creationId xmlns:a16="http://schemas.microsoft.com/office/drawing/2014/main" id="{BCC79569-B879-C1C3-05D4-BB8F172261B7}"/>
              </a:ext>
            </a:extLst>
          </p:cNvPr>
          <p:cNvSpPr txBox="1"/>
          <p:nvPr/>
        </p:nvSpPr>
        <p:spPr>
          <a:xfrm>
            <a:off x="4024858" y="230188"/>
            <a:ext cx="6100996" cy="584775"/>
          </a:xfrm>
          <a:prstGeom prst="rect">
            <a:avLst/>
          </a:prstGeom>
          <a:noFill/>
        </p:spPr>
        <p:txBody>
          <a:bodyPr wrap="square">
            <a:spAutoFit/>
          </a:bodyPr>
          <a:lstStyle/>
          <a:p>
            <a:r>
              <a:rPr lang="en-US" sz="3200" dirty="0">
                <a:solidFill>
                  <a:schemeClr val="tx2">
                    <a:lumMod val="90000"/>
                    <a:lumOff val="10000"/>
                  </a:schemeClr>
                </a:solidFill>
                <a:latin typeface="Helvetica" pitchFamily="2" charset="0"/>
              </a:rPr>
              <a:t>The Central Pattern</a:t>
            </a:r>
            <a:endParaRPr lang="en-US" sz="3200" dirty="0"/>
          </a:p>
        </p:txBody>
      </p:sp>
      <p:pic>
        <p:nvPicPr>
          <p:cNvPr id="6" name="Picture 5">
            <a:extLst>
              <a:ext uri="{FF2B5EF4-FFF2-40B4-BE49-F238E27FC236}">
                <a16:creationId xmlns:a16="http://schemas.microsoft.com/office/drawing/2014/main" id="{B415D53E-F7F3-7E84-FA2E-BD17433946B4}"/>
              </a:ext>
            </a:extLst>
          </p:cNvPr>
          <p:cNvPicPr>
            <a:picLocks noChangeAspect="1"/>
          </p:cNvPicPr>
          <p:nvPr/>
        </p:nvPicPr>
        <p:blipFill>
          <a:blip r:embed="rId2"/>
          <a:stretch>
            <a:fillRect/>
          </a:stretch>
        </p:blipFill>
        <p:spPr>
          <a:xfrm>
            <a:off x="556519" y="1709380"/>
            <a:ext cx="10692349" cy="4045018"/>
          </a:xfrm>
          <a:prstGeom prst="rect">
            <a:avLst/>
          </a:prstGeom>
        </p:spPr>
      </p:pic>
      <p:sp>
        <p:nvSpPr>
          <p:cNvPr id="8" name="TextBox 7">
            <a:extLst>
              <a:ext uri="{FF2B5EF4-FFF2-40B4-BE49-F238E27FC236}">
                <a16:creationId xmlns:a16="http://schemas.microsoft.com/office/drawing/2014/main" id="{A8FF7A23-2525-2D2C-6369-B1BAD4192035}"/>
              </a:ext>
            </a:extLst>
          </p:cNvPr>
          <p:cNvSpPr txBox="1"/>
          <p:nvPr/>
        </p:nvSpPr>
        <p:spPr>
          <a:xfrm>
            <a:off x="5533939" y="5754398"/>
            <a:ext cx="6101542" cy="1200329"/>
          </a:xfrm>
          <a:prstGeom prst="rect">
            <a:avLst/>
          </a:prstGeom>
          <a:noFill/>
        </p:spPr>
        <p:txBody>
          <a:bodyPr wrap="square">
            <a:spAutoFit/>
          </a:bodyPr>
          <a:lstStyle/>
          <a:p>
            <a:r>
              <a:rPr lang="en-US" sz="1800" dirty="0"/>
              <a:t>Casual panel: Saturday and Sunday dominant. The textbook leisure pattern with a mid day increase during </a:t>
            </a:r>
            <a:r>
              <a:rPr lang="en-US" dirty="0"/>
              <a:t>the week. The visible overlap during weekday rush hours is the conversion opportunity.</a:t>
            </a:r>
            <a:endParaRPr lang="en-US" sz="1800" dirty="0"/>
          </a:p>
        </p:txBody>
      </p:sp>
    </p:spTree>
    <p:extLst>
      <p:ext uri="{BB962C8B-B14F-4D97-AF65-F5344CB8AC3E}">
        <p14:creationId xmlns:p14="http://schemas.microsoft.com/office/powerpoint/2010/main" val="521479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alpha val="84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A26A7-EC39-38FA-ECEF-9E9191C8790B}"/>
              </a:ext>
            </a:extLst>
          </p:cNvPr>
          <p:cNvSpPr>
            <a:spLocks noGrp="1"/>
          </p:cNvSpPr>
          <p:nvPr>
            <p:ph type="title"/>
          </p:nvPr>
        </p:nvSpPr>
        <p:spPr>
          <a:xfrm>
            <a:off x="1227943" y="625074"/>
            <a:ext cx="10515600" cy="1325563"/>
          </a:xfrm>
        </p:spPr>
        <p:txBody>
          <a:bodyPr>
            <a:normAutofit/>
          </a:bodyPr>
          <a:lstStyle/>
          <a:p>
            <a:r>
              <a:rPr lang="en-US" sz="2400" dirty="0">
                <a:solidFill>
                  <a:schemeClr val="tx2">
                    <a:lumMod val="90000"/>
                    <a:lumOff val="10000"/>
                  </a:schemeClr>
                </a:solidFill>
                <a:latin typeface="Helvetica" pitchFamily="2" charset="0"/>
              </a:rPr>
              <a:t>55,000 casual rides per month look like member rides, 5 times the size of a simple commuter heuristic</a:t>
            </a:r>
            <a:endParaRPr lang="en-US" sz="2400" dirty="0"/>
          </a:p>
        </p:txBody>
      </p:sp>
      <p:sp>
        <p:nvSpPr>
          <p:cNvPr id="3" name="Content Placeholder 2">
            <a:extLst>
              <a:ext uri="{FF2B5EF4-FFF2-40B4-BE49-F238E27FC236}">
                <a16:creationId xmlns:a16="http://schemas.microsoft.com/office/drawing/2014/main" id="{A6E8C247-4656-2C80-280B-720E502E3A0B}"/>
              </a:ext>
            </a:extLst>
          </p:cNvPr>
          <p:cNvSpPr>
            <a:spLocks noGrp="1"/>
          </p:cNvSpPr>
          <p:nvPr>
            <p:ph idx="1"/>
          </p:nvPr>
        </p:nvSpPr>
        <p:spPr>
          <a:xfrm>
            <a:off x="743037" y="2173823"/>
            <a:ext cx="3558036" cy="1625972"/>
          </a:xfrm>
        </p:spPr>
        <p:txBody>
          <a:bodyPr>
            <a:normAutofit/>
          </a:bodyPr>
          <a:lstStyle/>
          <a:p>
            <a:pPr marL="0" indent="0" algn="ctr">
              <a:buNone/>
            </a:pPr>
            <a:r>
              <a:rPr lang="en-US" sz="3200" b="1" dirty="0"/>
              <a:t>170,968 </a:t>
            </a:r>
          </a:p>
          <a:p>
            <a:pPr marL="0" indent="0" algn="ctr">
              <a:buNone/>
            </a:pPr>
            <a:r>
              <a:rPr lang="en-US" sz="1800" dirty="0"/>
              <a:t>total casual rides per month</a:t>
            </a:r>
          </a:p>
          <a:p>
            <a:pPr marL="0" indent="0">
              <a:buNone/>
            </a:pPr>
            <a:endParaRPr lang="en-US" dirty="0"/>
          </a:p>
        </p:txBody>
      </p:sp>
      <p:sp>
        <p:nvSpPr>
          <p:cNvPr id="5" name="TextBox 4">
            <a:extLst>
              <a:ext uri="{FF2B5EF4-FFF2-40B4-BE49-F238E27FC236}">
                <a16:creationId xmlns:a16="http://schemas.microsoft.com/office/drawing/2014/main" id="{1E0644C6-4792-6794-47F3-DCEA95D16C1E}"/>
              </a:ext>
            </a:extLst>
          </p:cNvPr>
          <p:cNvSpPr txBox="1"/>
          <p:nvPr/>
        </p:nvSpPr>
        <p:spPr>
          <a:xfrm>
            <a:off x="4863061" y="264654"/>
            <a:ext cx="6100996" cy="584775"/>
          </a:xfrm>
          <a:prstGeom prst="rect">
            <a:avLst/>
          </a:prstGeom>
          <a:noFill/>
        </p:spPr>
        <p:txBody>
          <a:bodyPr wrap="square">
            <a:spAutoFit/>
          </a:bodyPr>
          <a:lstStyle/>
          <a:p>
            <a:r>
              <a:rPr lang="en-US" sz="3200" dirty="0">
                <a:solidFill>
                  <a:schemeClr val="tx2">
                    <a:lumMod val="90000"/>
                    <a:lumOff val="10000"/>
                  </a:schemeClr>
                </a:solidFill>
                <a:latin typeface="Helvetica" pitchFamily="2" charset="0"/>
              </a:rPr>
              <a:t>The Finding</a:t>
            </a:r>
            <a:endParaRPr lang="en-US" sz="3200" dirty="0"/>
          </a:p>
        </p:txBody>
      </p:sp>
      <p:pic>
        <p:nvPicPr>
          <p:cNvPr id="7" name="Picture 6">
            <a:extLst>
              <a:ext uri="{FF2B5EF4-FFF2-40B4-BE49-F238E27FC236}">
                <a16:creationId xmlns:a16="http://schemas.microsoft.com/office/drawing/2014/main" id="{1FAB1C06-1B73-782F-0596-9F395985FE45}"/>
              </a:ext>
            </a:extLst>
          </p:cNvPr>
          <p:cNvPicPr>
            <a:picLocks noChangeAspect="1"/>
          </p:cNvPicPr>
          <p:nvPr/>
        </p:nvPicPr>
        <p:blipFill>
          <a:blip r:embed="rId2"/>
          <a:stretch>
            <a:fillRect/>
          </a:stretch>
        </p:blipFill>
        <p:spPr>
          <a:xfrm>
            <a:off x="1033070" y="3381891"/>
            <a:ext cx="9978623" cy="2851035"/>
          </a:xfrm>
          <a:prstGeom prst="rect">
            <a:avLst/>
          </a:prstGeom>
        </p:spPr>
      </p:pic>
      <p:sp>
        <p:nvSpPr>
          <p:cNvPr id="9" name="TextBox 8">
            <a:extLst>
              <a:ext uri="{FF2B5EF4-FFF2-40B4-BE49-F238E27FC236}">
                <a16:creationId xmlns:a16="http://schemas.microsoft.com/office/drawing/2014/main" id="{7EC6AA71-F910-8A68-3007-3AFE601606D1}"/>
              </a:ext>
            </a:extLst>
          </p:cNvPr>
          <p:cNvSpPr txBox="1"/>
          <p:nvPr/>
        </p:nvSpPr>
        <p:spPr>
          <a:xfrm>
            <a:off x="959452" y="6408680"/>
            <a:ext cx="10125857" cy="369332"/>
          </a:xfrm>
          <a:prstGeom prst="rect">
            <a:avLst/>
          </a:prstGeom>
          <a:noFill/>
        </p:spPr>
        <p:txBody>
          <a:bodyPr wrap="square">
            <a:spAutoFit/>
          </a:bodyPr>
          <a:lstStyle/>
          <a:p>
            <a:pPr marL="0" indent="0">
              <a:buNone/>
            </a:pPr>
            <a:r>
              <a:rPr lang="en-US" i="1" dirty="0"/>
              <a:t>These are riders who already behave like members. They just haven't purchased the membership.</a:t>
            </a:r>
            <a:endParaRPr lang="en-US" dirty="0"/>
          </a:p>
        </p:txBody>
      </p:sp>
      <p:sp>
        <p:nvSpPr>
          <p:cNvPr id="11" name="TextBox 10">
            <a:extLst>
              <a:ext uri="{FF2B5EF4-FFF2-40B4-BE49-F238E27FC236}">
                <a16:creationId xmlns:a16="http://schemas.microsoft.com/office/drawing/2014/main" id="{3EEC9C38-B0FB-010E-5E2B-D7ABA5476CB0}"/>
              </a:ext>
            </a:extLst>
          </p:cNvPr>
          <p:cNvSpPr txBox="1"/>
          <p:nvPr/>
        </p:nvSpPr>
        <p:spPr>
          <a:xfrm>
            <a:off x="4573673" y="2126391"/>
            <a:ext cx="3312335" cy="1138773"/>
          </a:xfrm>
          <a:prstGeom prst="rect">
            <a:avLst/>
          </a:prstGeom>
          <a:noFill/>
        </p:spPr>
        <p:txBody>
          <a:bodyPr wrap="square">
            <a:spAutoFit/>
          </a:bodyPr>
          <a:lstStyle/>
          <a:p>
            <a:pPr algn="ctr"/>
            <a:r>
              <a:rPr lang="en-US" sz="3200" b="1" dirty="0"/>
              <a:t>55,226 (32%) </a:t>
            </a:r>
          </a:p>
          <a:p>
            <a:pPr algn="ctr"/>
            <a:r>
              <a:rPr lang="en-US" dirty="0"/>
              <a:t>Model flagged as behaviorally member-like</a:t>
            </a:r>
          </a:p>
        </p:txBody>
      </p:sp>
      <p:sp>
        <p:nvSpPr>
          <p:cNvPr id="13" name="TextBox 12">
            <a:extLst>
              <a:ext uri="{FF2B5EF4-FFF2-40B4-BE49-F238E27FC236}">
                <a16:creationId xmlns:a16="http://schemas.microsoft.com/office/drawing/2014/main" id="{3A2060E4-BD03-8690-E2B7-3F0718775985}"/>
              </a:ext>
            </a:extLst>
          </p:cNvPr>
          <p:cNvSpPr txBox="1"/>
          <p:nvPr/>
        </p:nvSpPr>
        <p:spPr>
          <a:xfrm>
            <a:off x="8431208" y="2019932"/>
            <a:ext cx="3312335" cy="1138773"/>
          </a:xfrm>
          <a:prstGeom prst="rect">
            <a:avLst/>
          </a:prstGeom>
          <a:noFill/>
        </p:spPr>
        <p:txBody>
          <a:bodyPr wrap="square">
            <a:spAutoFit/>
          </a:bodyPr>
          <a:lstStyle/>
          <a:p>
            <a:pPr algn="ctr"/>
            <a:r>
              <a:rPr lang="en-US" sz="3200" b="1" dirty="0"/>
              <a:t>5×</a:t>
            </a:r>
            <a:r>
              <a:rPr lang="en-US" sz="3200" dirty="0"/>
              <a:t> </a:t>
            </a:r>
          </a:p>
          <a:p>
            <a:pPr algn="ctr"/>
            <a:r>
              <a:rPr lang="en-US" dirty="0"/>
              <a:t>the model's reach vs a rule based commuter heuristic</a:t>
            </a:r>
          </a:p>
        </p:txBody>
      </p:sp>
    </p:spTree>
    <p:extLst>
      <p:ext uri="{BB962C8B-B14F-4D97-AF65-F5344CB8AC3E}">
        <p14:creationId xmlns:p14="http://schemas.microsoft.com/office/powerpoint/2010/main" val="1316163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alpha val="84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DBC7-22D3-4C81-3DA2-514F99D39A76}"/>
              </a:ext>
            </a:extLst>
          </p:cNvPr>
          <p:cNvSpPr>
            <a:spLocks noGrp="1"/>
          </p:cNvSpPr>
          <p:nvPr>
            <p:ph type="title"/>
          </p:nvPr>
        </p:nvSpPr>
        <p:spPr>
          <a:xfrm>
            <a:off x="151938" y="529092"/>
            <a:ext cx="12390782" cy="1325563"/>
          </a:xfrm>
        </p:spPr>
        <p:txBody>
          <a:bodyPr>
            <a:normAutofit/>
          </a:bodyPr>
          <a:lstStyle/>
          <a:p>
            <a:r>
              <a:rPr lang="en-US" sz="2400" dirty="0">
                <a:solidFill>
                  <a:schemeClr val="tx2">
                    <a:lumMod val="90000"/>
                    <a:lumOff val="10000"/>
                  </a:schemeClr>
                </a:solidFill>
                <a:latin typeface="Helvetica" pitchFamily="2" charset="0"/>
              </a:rPr>
              <a:t>Five stations in the upper Northwest DC corridor concentrated on the conversion opportunity</a:t>
            </a:r>
            <a:endParaRPr lang="en-US" sz="2400" dirty="0"/>
          </a:p>
        </p:txBody>
      </p:sp>
      <p:graphicFrame>
        <p:nvGraphicFramePr>
          <p:cNvPr id="4" name="Content Placeholder 3">
            <a:extLst>
              <a:ext uri="{FF2B5EF4-FFF2-40B4-BE49-F238E27FC236}">
                <a16:creationId xmlns:a16="http://schemas.microsoft.com/office/drawing/2014/main" id="{CEB8A26C-CB5A-9D59-45CE-C09FB0C884A6}"/>
              </a:ext>
            </a:extLst>
          </p:cNvPr>
          <p:cNvGraphicFramePr>
            <a:graphicFrameLocks noGrp="1"/>
          </p:cNvGraphicFramePr>
          <p:nvPr>
            <p:ph idx="1"/>
            <p:extLst>
              <p:ext uri="{D42A27DB-BD31-4B8C-83A1-F6EECF244321}">
                <p14:modId xmlns:p14="http://schemas.microsoft.com/office/powerpoint/2010/main" val="2295781681"/>
              </p:ext>
            </p:extLst>
          </p:nvPr>
        </p:nvGraphicFramePr>
        <p:xfrm>
          <a:off x="7118252" y="1512711"/>
          <a:ext cx="5251444" cy="4395351"/>
        </p:xfrm>
        <a:graphic>
          <a:graphicData uri="http://schemas.openxmlformats.org/drawingml/2006/table">
            <a:tbl>
              <a:tblPr>
                <a:effectLst>
                  <a:outerShdw blurRad="50800" dist="50800" dir="5400000" algn="ctr" rotWithShape="0">
                    <a:srgbClr val="000000"/>
                  </a:outerShdw>
                </a:effectLst>
              </a:tblPr>
              <a:tblGrid>
                <a:gridCol w="1312861">
                  <a:extLst>
                    <a:ext uri="{9D8B030D-6E8A-4147-A177-3AD203B41FA5}">
                      <a16:colId xmlns:a16="http://schemas.microsoft.com/office/drawing/2014/main" val="2107124887"/>
                    </a:ext>
                  </a:extLst>
                </a:gridCol>
                <a:gridCol w="1312861">
                  <a:extLst>
                    <a:ext uri="{9D8B030D-6E8A-4147-A177-3AD203B41FA5}">
                      <a16:colId xmlns:a16="http://schemas.microsoft.com/office/drawing/2014/main" val="4102086754"/>
                    </a:ext>
                  </a:extLst>
                </a:gridCol>
                <a:gridCol w="1312861">
                  <a:extLst>
                    <a:ext uri="{9D8B030D-6E8A-4147-A177-3AD203B41FA5}">
                      <a16:colId xmlns:a16="http://schemas.microsoft.com/office/drawing/2014/main" val="139155603"/>
                    </a:ext>
                  </a:extLst>
                </a:gridCol>
                <a:gridCol w="1312861">
                  <a:extLst>
                    <a:ext uri="{9D8B030D-6E8A-4147-A177-3AD203B41FA5}">
                      <a16:colId xmlns:a16="http://schemas.microsoft.com/office/drawing/2014/main" val="1674959938"/>
                    </a:ext>
                  </a:extLst>
                </a:gridCol>
              </a:tblGrid>
              <a:tr h="793574">
                <a:tc>
                  <a:txBody>
                    <a:bodyPr/>
                    <a:lstStyle/>
                    <a:p>
                      <a:pPr>
                        <a:buNone/>
                      </a:pPr>
                      <a:r>
                        <a:rPr lang="en-US" sz="1400"/>
                        <a:t>Station</a:t>
                      </a:r>
                    </a:p>
                  </a:txBody>
                  <a:tcPr anchor="ctr">
                    <a:lnL>
                      <a:noFill/>
                    </a:lnL>
                    <a:lnR>
                      <a:noFill/>
                    </a:lnR>
                    <a:lnT>
                      <a:noFill/>
                    </a:lnT>
                    <a:lnB>
                      <a:noFill/>
                    </a:lnB>
                    <a:noFill/>
                  </a:tcPr>
                </a:tc>
                <a:tc>
                  <a:txBody>
                    <a:bodyPr/>
                    <a:lstStyle/>
                    <a:p>
                      <a:pPr>
                        <a:buNone/>
                      </a:pPr>
                      <a:r>
                        <a:rPr lang="en-US" sz="1400" dirty="0"/>
                        <a:t>Monthly member-like rides</a:t>
                      </a:r>
                    </a:p>
                  </a:txBody>
                  <a:tcPr anchor="ctr">
                    <a:lnL>
                      <a:noFill/>
                    </a:lnL>
                    <a:lnR>
                      <a:noFill/>
                    </a:lnR>
                    <a:lnT>
                      <a:noFill/>
                    </a:lnT>
                    <a:lnB>
                      <a:noFill/>
                    </a:lnB>
                    <a:noFill/>
                  </a:tcPr>
                </a:tc>
                <a:tc>
                  <a:txBody>
                    <a:bodyPr/>
                    <a:lstStyle/>
                    <a:p>
                      <a:pPr>
                        <a:buNone/>
                      </a:pPr>
                      <a:r>
                        <a:rPr lang="en-US" sz="1400"/>
                        <a:t>Concentration</a:t>
                      </a:r>
                    </a:p>
                  </a:txBody>
                  <a:tcPr anchor="ctr">
                    <a:lnL>
                      <a:noFill/>
                    </a:lnL>
                    <a:lnR>
                      <a:noFill/>
                    </a:lnR>
                    <a:lnT>
                      <a:noFill/>
                    </a:lnT>
                    <a:lnB>
                      <a:noFill/>
                    </a:lnB>
                    <a:noFill/>
                  </a:tcPr>
                </a:tc>
                <a:tc>
                  <a:txBody>
                    <a:bodyPr/>
                    <a:lstStyle/>
                    <a:p>
                      <a:pPr>
                        <a:buNone/>
                      </a:pPr>
                      <a:r>
                        <a:rPr lang="en-US" sz="1400" dirty="0"/>
                        <a:t>Total casual rides</a:t>
                      </a:r>
                    </a:p>
                  </a:txBody>
                  <a:tcPr anchor="ctr">
                    <a:lnL>
                      <a:noFill/>
                    </a:lnL>
                    <a:lnR>
                      <a:noFill/>
                    </a:lnR>
                    <a:lnT>
                      <a:noFill/>
                    </a:lnT>
                    <a:lnB>
                      <a:noFill/>
                    </a:lnB>
                    <a:noFill/>
                  </a:tcPr>
                </a:tc>
                <a:extLst>
                  <a:ext uri="{0D108BD9-81ED-4DB2-BD59-A6C34878D82A}">
                    <a16:rowId xmlns:a16="http://schemas.microsoft.com/office/drawing/2014/main" val="2509030291"/>
                  </a:ext>
                </a:extLst>
              </a:tr>
              <a:tr h="793574">
                <a:tc>
                  <a:txBody>
                    <a:bodyPr/>
                    <a:lstStyle/>
                    <a:p>
                      <a:pPr>
                        <a:buNone/>
                      </a:pPr>
                      <a:r>
                        <a:rPr lang="en-US" sz="1400"/>
                        <a:t>Columbus Circle / Union Station</a:t>
                      </a:r>
                    </a:p>
                  </a:txBody>
                  <a:tcPr anchor="ctr">
                    <a:lnL>
                      <a:noFill/>
                    </a:lnL>
                    <a:lnR>
                      <a:noFill/>
                    </a:lnR>
                    <a:lnT>
                      <a:noFill/>
                    </a:lnT>
                    <a:lnB>
                      <a:noFill/>
                    </a:lnB>
                    <a:noFill/>
                  </a:tcPr>
                </a:tc>
                <a:tc>
                  <a:txBody>
                    <a:bodyPr/>
                    <a:lstStyle/>
                    <a:p>
                      <a:pPr>
                        <a:buNone/>
                      </a:pPr>
                      <a:r>
                        <a:rPr lang="en-US" sz="1400" dirty="0"/>
                        <a:t>528</a:t>
                      </a:r>
                    </a:p>
                  </a:txBody>
                  <a:tcPr anchor="ctr">
                    <a:lnL>
                      <a:noFill/>
                    </a:lnL>
                    <a:lnR>
                      <a:noFill/>
                    </a:lnR>
                    <a:lnT>
                      <a:noFill/>
                    </a:lnT>
                    <a:lnB>
                      <a:noFill/>
                    </a:lnB>
                    <a:noFill/>
                  </a:tcPr>
                </a:tc>
                <a:tc>
                  <a:txBody>
                    <a:bodyPr/>
                    <a:lstStyle/>
                    <a:p>
                      <a:pPr>
                        <a:buNone/>
                      </a:pPr>
                      <a:r>
                        <a:rPr lang="en-US" sz="1400"/>
                        <a:t>44%</a:t>
                      </a:r>
                    </a:p>
                  </a:txBody>
                  <a:tcPr anchor="ctr">
                    <a:lnL>
                      <a:noFill/>
                    </a:lnL>
                    <a:lnR>
                      <a:noFill/>
                    </a:lnR>
                    <a:lnT>
                      <a:noFill/>
                    </a:lnT>
                    <a:lnB>
                      <a:noFill/>
                    </a:lnB>
                    <a:noFill/>
                  </a:tcPr>
                </a:tc>
                <a:tc>
                  <a:txBody>
                    <a:bodyPr/>
                    <a:lstStyle/>
                    <a:p>
                      <a:pPr>
                        <a:buNone/>
                      </a:pPr>
                      <a:r>
                        <a:rPr lang="en-US" sz="1400" dirty="0"/>
                        <a:t>1,206</a:t>
                      </a:r>
                    </a:p>
                  </a:txBody>
                  <a:tcPr anchor="ctr">
                    <a:lnL>
                      <a:noFill/>
                    </a:lnL>
                    <a:lnR>
                      <a:noFill/>
                    </a:lnR>
                    <a:lnT>
                      <a:noFill/>
                    </a:lnT>
                    <a:lnB>
                      <a:noFill/>
                    </a:lnB>
                    <a:noFill/>
                  </a:tcPr>
                </a:tc>
                <a:extLst>
                  <a:ext uri="{0D108BD9-81ED-4DB2-BD59-A6C34878D82A}">
                    <a16:rowId xmlns:a16="http://schemas.microsoft.com/office/drawing/2014/main" val="1747719036"/>
                  </a:ext>
                </a:extLst>
              </a:tr>
              <a:tr h="665553">
                <a:tc>
                  <a:txBody>
                    <a:bodyPr/>
                    <a:lstStyle/>
                    <a:p>
                      <a:pPr>
                        <a:buNone/>
                      </a:pPr>
                      <a:r>
                        <a:rPr lang="en-US" sz="1400" dirty="0"/>
                        <a:t>14th &amp; Irving St NW</a:t>
                      </a:r>
                    </a:p>
                  </a:txBody>
                  <a:tcPr anchor="ctr">
                    <a:lnL>
                      <a:noFill/>
                    </a:lnL>
                    <a:lnR>
                      <a:noFill/>
                    </a:lnR>
                    <a:lnT>
                      <a:noFill/>
                    </a:lnT>
                    <a:lnB>
                      <a:noFill/>
                    </a:lnB>
                    <a:noFill/>
                  </a:tcPr>
                </a:tc>
                <a:tc>
                  <a:txBody>
                    <a:bodyPr/>
                    <a:lstStyle/>
                    <a:p>
                      <a:pPr>
                        <a:buNone/>
                      </a:pPr>
                      <a:r>
                        <a:rPr lang="en-US" sz="1400" dirty="0"/>
                        <a:t>490</a:t>
                      </a:r>
                    </a:p>
                  </a:txBody>
                  <a:tcPr anchor="ctr">
                    <a:lnL>
                      <a:noFill/>
                    </a:lnL>
                    <a:lnR>
                      <a:noFill/>
                    </a:lnR>
                    <a:lnT>
                      <a:noFill/>
                    </a:lnT>
                    <a:lnB>
                      <a:noFill/>
                    </a:lnB>
                    <a:noFill/>
                  </a:tcPr>
                </a:tc>
                <a:tc>
                  <a:txBody>
                    <a:bodyPr/>
                    <a:lstStyle/>
                    <a:p>
                      <a:pPr>
                        <a:buNone/>
                      </a:pPr>
                      <a:r>
                        <a:rPr lang="en-US" sz="1400" dirty="0"/>
                        <a:t>59%</a:t>
                      </a:r>
                    </a:p>
                  </a:txBody>
                  <a:tcPr anchor="ctr">
                    <a:lnL>
                      <a:noFill/>
                    </a:lnL>
                    <a:lnR>
                      <a:noFill/>
                    </a:lnR>
                    <a:lnT>
                      <a:noFill/>
                    </a:lnT>
                    <a:lnB>
                      <a:noFill/>
                    </a:lnB>
                    <a:noFill/>
                  </a:tcPr>
                </a:tc>
                <a:tc>
                  <a:txBody>
                    <a:bodyPr/>
                    <a:lstStyle/>
                    <a:p>
                      <a:pPr>
                        <a:buNone/>
                      </a:pPr>
                      <a:r>
                        <a:rPr lang="en-US" sz="1400" dirty="0"/>
                        <a:t>826</a:t>
                      </a:r>
                    </a:p>
                  </a:txBody>
                  <a:tcPr anchor="ctr">
                    <a:lnL>
                      <a:noFill/>
                    </a:lnL>
                    <a:lnR>
                      <a:noFill/>
                    </a:lnR>
                    <a:lnT>
                      <a:noFill/>
                    </a:lnT>
                    <a:lnB>
                      <a:noFill/>
                    </a:lnB>
                    <a:noFill/>
                  </a:tcPr>
                </a:tc>
                <a:extLst>
                  <a:ext uri="{0D108BD9-81ED-4DB2-BD59-A6C34878D82A}">
                    <a16:rowId xmlns:a16="http://schemas.microsoft.com/office/drawing/2014/main" val="2047099757"/>
                  </a:ext>
                </a:extLst>
              </a:tr>
              <a:tr h="793574">
                <a:tc>
                  <a:txBody>
                    <a:bodyPr/>
                    <a:lstStyle/>
                    <a:p>
                      <a:pPr>
                        <a:buNone/>
                      </a:pPr>
                      <a:r>
                        <a:rPr lang="en-US" sz="1400" dirty="0"/>
                        <a:t>New Hampshire Ave &amp; T St NW</a:t>
                      </a:r>
                    </a:p>
                  </a:txBody>
                  <a:tcPr anchor="ctr">
                    <a:lnL>
                      <a:noFill/>
                    </a:lnL>
                    <a:lnR>
                      <a:noFill/>
                    </a:lnR>
                    <a:lnT>
                      <a:noFill/>
                    </a:lnT>
                    <a:lnB>
                      <a:noFill/>
                    </a:lnB>
                    <a:noFill/>
                  </a:tcPr>
                </a:tc>
                <a:tc>
                  <a:txBody>
                    <a:bodyPr/>
                    <a:lstStyle/>
                    <a:p>
                      <a:pPr>
                        <a:buNone/>
                      </a:pPr>
                      <a:r>
                        <a:rPr lang="en-US" sz="1400" dirty="0"/>
                        <a:t>465</a:t>
                      </a:r>
                    </a:p>
                  </a:txBody>
                  <a:tcPr anchor="ctr">
                    <a:lnL>
                      <a:noFill/>
                    </a:lnL>
                    <a:lnR>
                      <a:noFill/>
                    </a:lnR>
                    <a:lnT>
                      <a:noFill/>
                    </a:lnT>
                    <a:lnB>
                      <a:noFill/>
                    </a:lnB>
                    <a:noFill/>
                  </a:tcPr>
                </a:tc>
                <a:tc>
                  <a:txBody>
                    <a:bodyPr/>
                    <a:lstStyle/>
                    <a:p>
                      <a:pPr>
                        <a:buNone/>
                      </a:pPr>
                      <a:r>
                        <a:rPr lang="en-US" sz="1400" dirty="0"/>
                        <a:t>43%</a:t>
                      </a:r>
                    </a:p>
                  </a:txBody>
                  <a:tcPr anchor="ctr">
                    <a:lnL>
                      <a:noFill/>
                    </a:lnL>
                    <a:lnR>
                      <a:noFill/>
                    </a:lnR>
                    <a:lnT>
                      <a:noFill/>
                    </a:lnT>
                    <a:lnB>
                      <a:noFill/>
                    </a:lnB>
                    <a:noFill/>
                  </a:tcPr>
                </a:tc>
                <a:tc>
                  <a:txBody>
                    <a:bodyPr/>
                    <a:lstStyle/>
                    <a:p>
                      <a:pPr>
                        <a:buNone/>
                      </a:pPr>
                      <a:r>
                        <a:rPr lang="en-US" sz="1400" dirty="0"/>
                        <a:t>1,078</a:t>
                      </a:r>
                    </a:p>
                  </a:txBody>
                  <a:tcPr anchor="ctr">
                    <a:lnL>
                      <a:noFill/>
                    </a:lnL>
                    <a:lnR>
                      <a:noFill/>
                    </a:lnR>
                    <a:lnT>
                      <a:noFill/>
                    </a:lnT>
                    <a:lnB>
                      <a:noFill/>
                    </a:lnB>
                    <a:noFill/>
                  </a:tcPr>
                </a:tc>
                <a:extLst>
                  <a:ext uri="{0D108BD9-81ED-4DB2-BD59-A6C34878D82A}">
                    <a16:rowId xmlns:a16="http://schemas.microsoft.com/office/drawing/2014/main" val="1920691980"/>
                  </a:ext>
                </a:extLst>
              </a:tr>
              <a:tr h="793574">
                <a:tc>
                  <a:txBody>
                    <a:bodyPr/>
                    <a:lstStyle/>
                    <a:p>
                      <a:pPr>
                        <a:buNone/>
                      </a:pPr>
                      <a:r>
                        <a:rPr lang="en-US" sz="1400" dirty="0"/>
                        <a:t>37th &amp; O St NW / Georgetown</a:t>
                      </a:r>
                    </a:p>
                  </a:txBody>
                  <a:tcPr anchor="ctr">
                    <a:lnL>
                      <a:noFill/>
                    </a:lnL>
                    <a:lnR>
                      <a:noFill/>
                    </a:lnR>
                    <a:lnT>
                      <a:noFill/>
                    </a:lnT>
                    <a:lnB>
                      <a:noFill/>
                    </a:lnB>
                    <a:noFill/>
                  </a:tcPr>
                </a:tc>
                <a:tc>
                  <a:txBody>
                    <a:bodyPr/>
                    <a:lstStyle/>
                    <a:p>
                      <a:pPr>
                        <a:buNone/>
                      </a:pPr>
                      <a:r>
                        <a:rPr lang="en-US" sz="1400"/>
                        <a:t>407</a:t>
                      </a:r>
                    </a:p>
                  </a:txBody>
                  <a:tcPr anchor="ctr">
                    <a:lnL>
                      <a:noFill/>
                    </a:lnL>
                    <a:lnR>
                      <a:noFill/>
                    </a:lnR>
                    <a:lnT>
                      <a:noFill/>
                    </a:lnT>
                    <a:lnB>
                      <a:noFill/>
                    </a:lnB>
                    <a:noFill/>
                  </a:tcPr>
                </a:tc>
                <a:tc>
                  <a:txBody>
                    <a:bodyPr/>
                    <a:lstStyle/>
                    <a:p>
                      <a:pPr>
                        <a:buNone/>
                      </a:pPr>
                      <a:r>
                        <a:rPr lang="en-US" sz="1400" dirty="0"/>
                        <a:t>51%</a:t>
                      </a:r>
                    </a:p>
                  </a:txBody>
                  <a:tcPr anchor="ctr">
                    <a:lnL>
                      <a:noFill/>
                    </a:lnL>
                    <a:lnR>
                      <a:noFill/>
                    </a:lnR>
                    <a:lnT>
                      <a:noFill/>
                    </a:lnT>
                    <a:lnB>
                      <a:noFill/>
                    </a:lnB>
                    <a:noFill/>
                  </a:tcPr>
                </a:tc>
                <a:tc>
                  <a:txBody>
                    <a:bodyPr/>
                    <a:lstStyle/>
                    <a:p>
                      <a:pPr>
                        <a:buNone/>
                      </a:pPr>
                      <a:r>
                        <a:rPr lang="en-US" sz="1400" dirty="0"/>
                        <a:t>798</a:t>
                      </a:r>
                    </a:p>
                  </a:txBody>
                  <a:tcPr anchor="ctr">
                    <a:lnL>
                      <a:noFill/>
                    </a:lnL>
                    <a:lnR>
                      <a:noFill/>
                    </a:lnR>
                    <a:lnT>
                      <a:noFill/>
                    </a:lnT>
                    <a:lnB>
                      <a:noFill/>
                    </a:lnB>
                    <a:noFill/>
                  </a:tcPr>
                </a:tc>
                <a:extLst>
                  <a:ext uri="{0D108BD9-81ED-4DB2-BD59-A6C34878D82A}">
                    <a16:rowId xmlns:a16="http://schemas.microsoft.com/office/drawing/2014/main" val="1115228050"/>
                  </a:ext>
                </a:extLst>
              </a:tr>
              <a:tr h="555502">
                <a:tc>
                  <a:txBody>
                    <a:bodyPr/>
                    <a:lstStyle/>
                    <a:p>
                      <a:pPr>
                        <a:buNone/>
                      </a:pPr>
                      <a:r>
                        <a:rPr lang="en-US" sz="1400"/>
                        <a:t>14th &amp; V St NW</a:t>
                      </a:r>
                    </a:p>
                  </a:txBody>
                  <a:tcPr anchor="ctr">
                    <a:lnL>
                      <a:noFill/>
                    </a:lnL>
                    <a:lnR>
                      <a:noFill/>
                    </a:lnR>
                    <a:lnT>
                      <a:noFill/>
                    </a:lnT>
                    <a:lnB>
                      <a:noFill/>
                    </a:lnB>
                    <a:noFill/>
                  </a:tcPr>
                </a:tc>
                <a:tc>
                  <a:txBody>
                    <a:bodyPr/>
                    <a:lstStyle/>
                    <a:p>
                      <a:pPr>
                        <a:buNone/>
                      </a:pPr>
                      <a:r>
                        <a:rPr lang="en-US" sz="1400"/>
                        <a:t>380</a:t>
                      </a:r>
                    </a:p>
                  </a:txBody>
                  <a:tcPr anchor="ctr">
                    <a:lnL>
                      <a:noFill/>
                    </a:lnL>
                    <a:lnR>
                      <a:noFill/>
                    </a:lnR>
                    <a:lnT>
                      <a:noFill/>
                    </a:lnT>
                    <a:lnB>
                      <a:noFill/>
                    </a:lnB>
                    <a:noFill/>
                  </a:tcPr>
                </a:tc>
                <a:tc>
                  <a:txBody>
                    <a:bodyPr/>
                    <a:lstStyle/>
                    <a:p>
                      <a:pPr>
                        <a:buNone/>
                      </a:pPr>
                      <a:r>
                        <a:rPr lang="en-US" sz="1400"/>
                        <a:t>40%</a:t>
                      </a:r>
                    </a:p>
                  </a:txBody>
                  <a:tcPr anchor="ctr">
                    <a:lnL>
                      <a:noFill/>
                    </a:lnL>
                    <a:lnR>
                      <a:noFill/>
                    </a:lnR>
                    <a:lnT>
                      <a:noFill/>
                    </a:lnT>
                    <a:lnB>
                      <a:noFill/>
                    </a:lnB>
                    <a:noFill/>
                  </a:tcPr>
                </a:tc>
                <a:tc>
                  <a:txBody>
                    <a:bodyPr/>
                    <a:lstStyle/>
                    <a:p>
                      <a:pPr>
                        <a:buNone/>
                      </a:pPr>
                      <a:r>
                        <a:rPr lang="en-US" sz="1400" dirty="0"/>
                        <a:t>955</a:t>
                      </a:r>
                    </a:p>
                  </a:txBody>
                  <a:tcPr anchor="ctr">
                    <a:lnL>
                      <a:noFill/>
                    </a:lnL>
                    <a:lnR>
                      <a:noFill/>
                    </a:lnR>
                    <a:lnT>
                      <a:noFill/>
                    </a:lnT>
                    <a:lnB>
                      <a:noFill/>
                    </a:lnB>
                    <a:noFill/>
                  </a:tcPr>
                </a:tc>
                <a:extLst>
                  <a:ext uri="{0D108BD9-81ED-4DB2-BD59-A6C34878D82A}">
                    <a16:rowId xmlns:a16="http://schemas.microsoft.com/office/drawing/2014/main" val="2386818560"/>
                  </a:ext>
                </a:extLst>
              </a:tr>
            </a:tbl>
          </a:graphicData>
        </a:graphic>
      </p:graphicFrame>
      <p:sp>
        <p:nvSpPr>
          <p:cNvPr id="8" name="TextBox 7">
            <a:extLst>
              <a:ext uri="{FF2B5EF4-FFF2-40B4-BE49-F238E27FC236}">
                <a16:creationId xmlns:a16="http://schemas.microsoft.com/office/drawing/2014/main" id="{EDEA26D2-5D0D-9BDF-4E84-3539F802845A}"/>
              </a:ext>
            </a:extLst>
          </p:cNvPr>
          <p:cNvSpPr txBox="1"/>
          <p:nvPr/>
        </p:nvSpPr>
        <p:spPr>
          <a:xfrm>
            <a:off x="3045502" y="157976"/>
            <a:ext cx="6100996" cy="584775"/>
          </a:xfrm>
          <a:prstGeom prst="rect">
            <a:avLst/>
          </a:prstGeom>
          <a:noFill/>
        </p:spPr>
        <p:txBody>
          <a:bodyPr wrap="square">
            <a:spAutoFit/>
          </a:bodyPr>
          <a:lstStyle/>
          <a:p>
            <a:r>
              <a:rPr lang="en-US" sz="3200" dirty="0">
                <a:solidFill>
                  <a:schemeClr val="tx2">
                    <a:lumMod val="90000"/>
                    <a:lumOff val="10000"/>
                  </a:schemeClr>
                </a:solidFill>
                <a:latin typeface="Helvetica" pitchFamily="2" charset="0"/>
              </a:rPr>
              <a:t>The Targets and Opportunity</a:t>
            </a:r>
            <a:endParaRPr lang="en-US" sz="3200" dirty="0"/>
          </a:p>
        </p:txBody>
      </p:sp>
      <p:pic>
        <p:nvPicPr>
          <p:cNvPr id="10" name="Picture 9">
            <a:extLst>
              <a:ext uri="{FF2B5EF4-FFF2-40B4-BE49-F238E27FC236}">
                <a16:creationId xmlns:a16="http://schemas.microsoft.com/office/drawing/2014/main" id="{32A9127A-F144-714C-E05C-130FA8252726}"/>
              </a:ext>
            </a:extLst>
          </p:cNvPr>
          <p:cNvPicPr>
            <a:picLocks noChangeAspect="1"/>
          </p:cNvPicPr>
          <p:nvPr/>
        </p:nvPicPr>
        <p:blipFill>
          <a:blip r:embed="rId2"/>
          <a:stretch>
            <a:fillRect/>
          </a:stretch>
        </p:blipFill>
        <p:spPr>
          <a:xfrm>
            <a:off x="151938" y="1640995"/>
            <a:ext cx="6415115" cy="4138784"/>
          </a:xfrm>
          <a:prstGeom prst="rect">
            <a:avLst/>
          </a:prstGeom>
          <a:ln w="28575">
            <a:solidFill>
              <a:schemeClr val="accent1">
                <a:shade val="15000"/>
                <a:alpha val="0"/>
              </a:schemeClr>
            </a:solidFill>
          </a:ln>
        </p:spPr>
      </p:pic>
    </p:spTree>
    <p:extLst>
      <p:ext uri="{BB962C8B-B14F-4D97-AF65-F5344CB8AC3E}">
        <p14:creationId xmlns:p14="http://schemas.microsoft.com/office/powerpoint/2010/main" val="2737126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alpha val="84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8A417-6513-DB81-EF38-FE6CEAF7F17F}"/>
              </a:ext>
            </a:extLst>
          </p:cNvPr>
          <p:cNvSpPr>
            <a:spLocks noGrp="1"/>
          </p:cNvSpPr>
          <p:nvPr>
            <p:ph type="title"/>
          </p:nvPr>
        </p:nvSpPr>
        <p:spPr>
          <a:xfrm>
            <a:off x="1922488" y="378060"/>
            <a:ext cx="10515600" cy="1325563"/>
          </a:xfrm>
        </p:spPr>
        <p:txBody>
          <a:bodyPr>
            <a:normAutofit/>
          </a:bodyPr>
          <a:lstStyle/>
          <a:p>
            <a:r>
              <a:rPr lang="en-US" sz="2400" dirty="0">
                <a:solidFill>
                  <a:schemeClr val="tx2">
                    <a:lumMod val="90000"/>
                    <a:lumOff val="10000"/>
                  </a:schemeClr>
                </a:solidFill>
                <a:latin typeface="Helvetica" pitchFamily="2" charset="0"/>
              </a:rPr>
              <a:t>Pilot a four-tactic corridor campaign; scale once validated</a:t>
            </a:r>
            <a:endParaRPr lang="en-US" sz="2400" dirty="0"/>
          </a:p>
        </p:txBody>
      </p:sp>
      <p:sp>
        <p:nvSpPr>
          <p:cNvPr id="3" name="Content Placeholder 2">
            <a:extLst>
              <a:ext uri="{FF2B5EF4-FFF2-40B4-BE49-F238E27FC236}">
                <a16:creationId xmlns:a16="http://schemas.microsoft.com/office/drawing/2014/main" id="{E36DA517-C690-6B4E-2D2D-53C31EFC476D}"/>
              </a:ext>
            </a:extLst>
          </p:cNvPr>
          <p:cNvSpPr>
            <a:spLocks noGrp="1"/>
          </p:cNvSpPr>
          <p:nvPr>
            <p:ph idx="1"/>
          </p:nvPr>
        </p:nvSpPr>
        <p:spPr>
          <a:xfrm>
            <a:off x="838200" y="1825625"/>
            <a:ext cx="4681451" cy="4351338"/>
          </a:xfrm>
        </p:spPr>
        <p:txBody>
          <a:bodyPr>
            <a:normAutofit fontScale="70000" lnSpcReduction="20000"/>
          </a:bodyPr>
          <a:lstStyle/>
          <a:p>
            <a:pPr marL="0" indent="0" algn="ctr">
              <a:buNone/>
            </a:pPr>
            <a:r>
              <a:rPr lang="en-US" b="1" dirty="0"/>
              <a:t>Interventions</a:t>
            </a:r>
            <a:endParaRPr lang="en-US" dirty="0"/>
          </a:p>
          <a:p>
            <a:pPr marL="514350" indent="-514350">
              <a:buFont typeface="+mj-lt"/>
              <a:buAutoNum type="arabicPeriod"/>
            </a:pPr>
            <a:r>
              <a:rPr lang="en-US" b="1" dirty="0"/>
              <a:t>On bike screen offers during weekday rush hours.</a:t>
            </a:r>
            <a:r>
              <a:rPr lang="en-US" dirty="0"/>
              <a:t>  Around 1,400 impressions per station per month at zero incremental cost</a:t>
            </a:r>
          </a:p>
          <a:p>
            <a:pPr marL="514350" indent="-514350">
              <a:buFont typeface="+mj-lt"/>
              <a:buAutoNum type="arabicPeriod"/>
            </a:pPr>
            <a:r>
              <a:rPr lang="en-US" b="1" dirty="0"/>
              <a:t>Permanent dock signage with QR value calculator.</a:t>
            </a:r>
            <a:r>
              <a:rPr lang="en-US" dirty="0"/>
              <a:t> "Save $270/year" messaging at all five docks</a:t>
            </a:r>
          </a:p>
          <a:p>
            <a:pPr marL="514350" indent="-514350">
              <a:buFont typeface="+mj-lt"/>
              <a:buAutoNum type="arabicPeriod"/>
            </a:pPr>
            <a:r>
              <a:rPr lang="en-US" b="1" dirty="0"/>
              <a:t>Trigger based email/push to repeat single trip buyers.</a:t>
            </a:r>
            <a:r>
              <a:rPr lang="en-US" dirty="0"/>
              <a:t> Operationalizes the same insight via transaction data</a:t>
            </a:r>
          </a:p>
          <a:p>
            <a:pPr marL="514350" indent="-514350">
              <a:buFont typeface="+mj-lt"/>
              <a:buAutoNum type="arabicPeriod"/>
            </a:pPr>
            <a:r>
              <a:rPr lang="en-US" b="1" dirty="0"/>
              <a:t>Adjacent employer and university partnerships.</a:t>
            </a:r>
            <a:r>
              <a:rPr lang="en-US" dirty="0"/>
              <a:t> Anchor: Georgetown University, Union Station's federal cluster</a:t>
            </a:r>
          </a:p>
          <a:p>
            <a:endParaRPr lang="en-US" dirty="0"/>
          </a:p>
        </p:txBody>
      </p:sp>
      <p:sp>
        <p:nvSpPr>
          <p:cNvPr id="5" name="TextBox 4">
            <a:extLst>
              <a:ext uri="{FF2B5EF4-FFF2-40B4-BE49-F238E27FC236}">
                <a16:creationId xmlns:a16="http://schemas.microsoft.com/office/drawing/2014/main" id="{A3CEA01B-97D7-FF18-933E-93ECB2A70409}"/>
              </a:ext>
            </a:extLst>
          </p:cNvPr>
          <p:cNvSpPr txBox="1"/>
          <p:nvPr/>
        </p:nvSpPr>
        <p:spPr>
          <a:xfrm>
            <a:off x="3680085" y="230188"/>
            <a:ext cx="6100996" cy="584775"/>
          </a:xfrm>
          <a:prstGeom prst="rect">
            <a:avLst/>
          </a:prstGeom>
          <a:noFill/>
        </p:spPr>
        <p:txBody>
          <a:bodyPr wrap="square">
            <a:spAutoFit/>
          </a:bodyPr>
          <a:lstStyle/>
          <a:p>
            <a:r>
              <a:rPr lang="en-US" sz="3200" dirty="0">
                <a:solidFill>
                  <a:schemeClr val="tx2">
                    <a:lumMod val="90000"/>
                    <a:lumOff val="10000"/>
                  </a:schemeClr>
                </a:solidFill>
                <a:latin typeface="Helvetica" pitchFamily="2" charset="0"/>
              </a:rPr>
              <a:t>The Recommendation</a:t>
            </a:r>
            <a:endParaRPr lang="en-US" sz="3200" dirty="0"/>
          </a:p>
        </p:txBody>
      </p:sp>
      <p:sp>
        <p:nvSpPr>
          <p:cNvPr id="7" name="TextBox 6">
            <a:extLst>
              <a:ext uri="{FF2B5EF4-FFF2-40B4-BE49-F238E27FC236}">
                <a16:creationId xmlns:a16="http://schemas.microsoft.com/office/drawing/2014/main" id="{E65108EB-7F6F-B120-48CF-8358E1A44D6E}"/>
              </a:ext>
            </a:extLst>
          </p:cNvPr>
          <p:cNvSpPr txBox="1"/>
          <p:nvPr/>
        </p:nvSpPr>
        <p:spPr>
          <a:xfrm>
            <a:off x="6846961" y="1825625"/>
            <a:ext cx="4681451" cy="2308324"/>
          </a:xfrm>
          <a:prstGeom prst="rect">
            <a:avLst/>
          </a:prstGeom>
          <a:noFill/>
        </p:spPr>
        <p:txBody>
          <a:bodyPr wrap="square">
            <a:spAutoFit/>
          </a:bodyPr>
          <a:lstStyle/>
          <a:p>
            <a:pPr algn="ctr"/>
            <a:r>
              <a:rPr lang="en-US" b="1" dirty="0"/>
              <a:t>Sizing</a:t>
            </a:r>
            <a:endParaRPr lang="en-US" dirty="0"/>
          </a:p>
          <a:p>
            <a:r>
              <a:rPr lang="en-US" b="1" dirty="0"/>
              <a:t>Pilot (5 stations)</a:t>
            </a:r>
            <a:r>
              <a:rPr lang="en-US" dirty="0"/>
              <a:t> 43 new annual members around </a:t>
            </a:r>
            <a:r>
              <a:rPr lang="en-US" b="1" dirty="0"/>
              <a:t>$5,200 </a:t>
            </a:r>
            <a:r>
              <a:rPr lang="en-US" dirty="0"/>
              <a:t>ARR</a:t>
            </a:r>
          </a:p>
          <a:p>
            <a:endParaRPr lang="en-US" dirty="0"/>
          </a:p>
          <a:p>
            <a:r>
              <a:rPr lang="en-US" b="1" dirty="0"/>
              <a:t>Scaled systemwide</a:t>
            </a:r>
            <a:r>
              <a:rPr lang="en-US" dirty="0"/>
              <a:t> 1,060 new annual members </a:t>
            </a:r>
            <a:r>
              <a:rPr lang="en-US" b="1" dirty="0"/>
              <a:t>$127K </a:t>
            </a:r>
            <a:r>
              <a:rPr lang="en-US" dirty="0"/>
              <a:t>ARR</a:t>
            </a:r>
          </a:p>
          <a:p>
            <a:r>
              <a:rPr lang="en-US" i="1" dirty="0"/>
              <a:t>Sensitivity: </a:t>
            </a:r>
            <a:r>
              <a:rPr lang="en-US" b="1" i="1" dirty="0"/>
              <a:t>$48K–$318K </a:t>
            </a:r>
            <a:r>
              <a:rPr lang="en-US" i="1" dirty="0"/>
              <a:t>depending on conversion rate (3%–20%).</a:t>
            </a:r>
            <a:endParaRPr lang="en-US" dirty="0"/>
          </a:p>
        </p:txBody>
      </p:sp>
    </p:spTree>
    <p:extLst>
      <p:ext uri="{BB962C8B-B14F-4D97-AF65-F5344CB8AC3E}">
        <p14:creationId xmlns:p14="http://schemas.microsoft.com/office/powerpoint/2010/main" val="3266808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alpha val="84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64935-6C48-EB44-28C3-4061899F1FB3}"/>
              </a:ext>
            </a:extLst>
          </p:cNvPr>
          <p:cNvSpPr>
            <a:spLocks noGrp="1"/>
          </p:cNvSpPr>
          <p:nvPr>
            <p:ph type="title"/>
          </p:nvPr>
        </p:nvSpPr>
        <p:spPr>
          <a:xfrm>
            <a:off x="838200" y="570224"/>
            <a:ext cx="10515600" cy="1325563"/>
          </a:xfrm>
        </p:spPr>
        <p:txBody>
          <a:bodyPr>
            <a:normAutofit/>
          </a:bodyPr>
          <a:lstStyle/>
          <a:p>
            <a:r>
              <a:rPr lang="en-US" sz="2400" dirty="0">
                <a:solidFill>
                  <a:schemeClr val="tx2">
                    <a:lumMod val="90000"/>
                    <a:lumOff val="10000"/>
                  </a:schemeClr>
                </a:solidFill>
                <a:latin typeface="Helvetica" pitchFamily="2" charset="0"/>
              </a:rPr>
              <a:t>A 90 day controlled pilot validates the mechanic before systemwide rollout.</a:t>
            </a:r>
            <a:br>
              <a:rPr lang="en-US" sz="2400" dirty="0">
                <a:solidFill>
                  <a:schemeClr val="tx2">
                    <a:lumMod val="90000"/>
                    <a:lumOff val="10000"/>
                  </a:schemeClr>
                </a:solidFill>
                <a:latin typeface="Helvetica" pitchFamily="2" charset="0"/>
              </a:rPr>
            </a:br>
            <a:endParaRPr lang="en-US" sz="2400" dirty="0">
              <a:solidFill>
                <a:schemeClr val="tx2">
                  <a:lumMod val="90000"/>
                  <a:lumOff val="10000"/>
                </a:schemeClr>
              </a:solidFill>
              <a:latin typeface="Helvetica" pitchFamily="2" charset="0"/>
            </a:endParaRPr>
          </a:p>
        </p:txBody>
      </p:sp>
      <p:sp>
        <p:nvSpPr>
          <p:cNvPr id="3" name="Content Placeholder 2">
            <a:extLst>
              <a:ext uri="{FF2B5EF4-FFF2-40B4-BE49-F238E27FC236}">
                <a16:creationId xmlns:a16="http://schemas.microsoft.com/office/drawing/2014/main" id="{5F7357D0-29B6-8FF4-92C0-3F37839DB38C}"/>
              </a:ext>
            </a:extLst>
          </p:cNvPr>
          <p:cNvSpPr>
            <a:spLocks noGrp="1"/>
          </p:cNvSpPr>
          <p:nvPr>
            <p:ph idx="1"/>
          </p:nvPr>
        </p:nvSpPr>
        <p:spPr>
          <a:xfrm>
            <a:off x="229295" y="1637996"/>
            <a:ext cx="3794066" cy="4916651"/>
          </a:xfrm>
        </p:spPr>
        <p:txBody>
          <a:bodyPr>
            <a:normAutofit/>
          </a:bodyPr>
          <a:lstStyle/>
          <a:p>
            <a:pPr marL="0" indent="0" algn="ctr">
              <a:buNone/>
            </a:pPr>
            <a:r>
              <a:rPr lang="en-US" b="1" dirty="0">
                <a:latin typeface="Helvetica" pitchFamily="2" charset="0"/>
              </a:rPr>
              <a:t>Pilot Design</a:t>
            </a:r>
            <a:endParaRPr lang="en-US" dirty="0">
              <a:latin typeface="Helvetica" pitchFamily="2" charset="0"/>
            </a:endParaRPr>
          </a:p>
          <a:p>
            <a:r>
              <a:rPr lang="en-US" sz="2400" dirty="0">
                <a:latin typeface="Helvetica" pitchFamily="2" charset="0"/>
              </a:rPr>
              <a:t>5 pilot stations vs 3 matched control stations in 90 day window </a:t>
            </a:r>
          </a:p>
          <a:p>
            <a:r>
              <a:rPr lang="en-US" sz="2400" dirty="0">
                <a:latin typeface="Helvetica" pitchFamily="2" charset="0"/>
              </a:rPr>
              <a:t>Success metric: ≥20% lift in casual to member conversion rate at          p &lt; 0.05. 25 conversions per arm required</a:t>
            </a:r>
          </a:p>
          <a:p>
            <a:endParaRPr lang="en-US" dirty="0">
              <a:latin typeface="Helvetica" pitchFamily="2" charset="0"/>
            </a:endParaRPr>
          </a:p>
        </p:txBody>
      </p:sp>
      <p:sp>
        <p:nvSpPr>
          <p:cNvPr id="5" name="TextBox 4">
            <a:extLst>
              <a:ext uri="{FF2B5EF4-FFF2-40B4-BE49-F238E27FC236}">
                <a16:creationId xmlns:a16="http://schemas.microsoft.com/office/drawing/2014/main" id="{9E06BEB1-07CC-BB16-A587-5EF2D229CDA0}"/>
              </a:ext>
            </a:extLst>
          </p:cNvPr>
          <p:cNvSpPr txBox="1"/>
          <p:nvPr/>
        </p:nvSpPr>
        <p:spPr>
          <a:xfrm>
            <a:off x="2679492" y="202531"/>
            <a:ext cx="6833016" cy="584775"/>
          </a:xfrm>
          <a:prstGeom prst="rect">
            <a:avLst/>
          </a:prstGeom>
          <a:noFill/>
        </p:spPr>
        <p:txBody>
          <a:bodyPr wrap="square">
            <a:spAutoFit/>
          </a:bodyPr>
          <a:lstStyle/>
          <a:p>
            <a:r>
              <a:rPr lang="en-US" sz="3200" dirty="0">
                <a:solidFill>
                  <a:schemeClr val="tx2">
                    <a:lumMod val="90000"/>
                    <a:lumOff val="10000"/>
                  </a:schemeClr>
                </a:solidFill>
                <a:latin typeface="Helvetica" pitchFamily="2" charset="0"/>
              </a:rPr>
              <a:t>Pilot Design, Limitations, Next Steps</a:t>
            </a:r>
            <a:endParaRPr lang="en-US" sz="3200" dirty="0">
              <a:latin typeface="Helvetica" pitchFamily="2" charset="0"/>
            </a:endParaRPr>
          </a:p>
        </p:txBody>
      </p:sp>
      <p:sp>
        <p:nvSpPr>
          <p:cNvPr id="9" name="TextBox 8">
            <a:extLst>
              <a:ext uri="{FF2B5EF4-FFF2-40B4-BE49-F238E27FC236}">
                <a16:creationId xmlns:a16="http://schemas.microsoft.com/office/drawing/2014/main" id="{515E72B6-DE92-D7FD-1D53-29ABBB43555E}"/>
              </a:ext>
            </a:extLst>
          </p:cNvPr>
          <p:cNvSpPr txBox="1"/>
          <p:nvPr/>
        </p:nvSpPr>
        <p:spPr>
          <a:xfrm>
            <a:off x="4464975" y="1599144"/>
            <a:ext cx="3372196" cy="4216539"/>
          </a:xfrm>
          <a:prstGeom prst="rect">
            <a:avLst/>
          </a:prstGeom>
          <a:noFill/>
        </p:spPr>
        <p:txBody>
          <a:bodyPr wrap="square">
            <a:spAutoFit/>
          </a:bodyPr>
          <a:lstStyle/>
          <a:p>
            <a:pPr algn="ctr"/>
            <a:r>
              <a:rPr lang="en-US" sz="2800" b="1" dirty="0">
                <a:latin typeface="Helvetica" pitchFamily="2" charset="0"/>
              </a:rPr>
              <a:t>Limitations</a:t>
            </a:r>
            <a:endParaRPr lang="en-US" sz="2800" dirty="0">
              <a:latin typeface="Helvetica" pitchFamily="2" charset="0"/>
            </a:endParaRPr>
          </a:p>
          <a:p>
            <a:pPr marL="457200" indent="-457200">
              <a:buFont typeface="Arial" panose="020B0604020202020204" pitchFamily="34" charset="0"/>
              <a:buChar char="•"/>
            </a:pPr>
            <a:r>
              <a:rPr lang="en-US" sz="2400" dirty="0">
                <a:latin typeface="Helvetica" pitchFamily="2" charset="0"/>
              </a:rPr>
              <a:t>No user IDs available</a:t>
            </a:r>
          </a:p>
          <a:p>
            <a:pPr marL="457200" indent="-457200">
              <a:buFont typeface="Arial" panose="020B0604020202020204" pitchFamily="34" charset="0"/>
              <a:buChar char="•"/>
            </a:pPr>
            <a:r>
              <a:rPr lang="en-US" sz="2400" dirty="0">
                <a:latin typeface="Helvetica" pitchFamily="2" charset="0"/>
              </a:rPr>
              <a:t>Analysis is ride level AUC 0.73 is moderate; field validation required </a:t>
            </a:r>
          </a:p>
          <a:p>
            <a:pPr marL="457200" indent="-457200">
              <a:buFont typeface="Arial" panose="020B0604020202020204" pitchFamily="34" charset="0"/>
              <a:buChar char="•"/>
            </a:pPr>
            <a:r>
              <a:rPr lang="en-US" sz="2400" dirty="0">
                <a:latin typeface="Helvetica" pitchFamily="2" charset="0"/>
              </a:rPr>
              <a:t>Top features encode geographic base rate, not pure behavior</a:t>
            </a:r>
          </a:p>
        </p:txBody>
      </p:sp>
      <p:sp>
        <p:nvSpPr>
          <p:cNvPr id="11" name="TextBox 10">
            <a:extLst>
              <a:ext uri="{FF2B5EF4-FFF2-40B4-BE49-F238E27FC236}">
                <a16:creationId xmlns:a16="http://schemas.microsoft.com/office/drawing/2014/main" id="{1D28C578-6452-C207-3E9E-79F168900CE9}"/>
              </a:ext>
            </a:extLst>
          </p:cNvPr>
          <p:cNvSpPr txBox="1"/>
          <p:nvPr/>
        </p:nvSpPr>
        <p:spPr>
          <a:xfrm>
            <a:off x="8278785" y="1599144"/>
            <a:ext cx="3762895" cy="4585871"/>
          </a:xfrm>
          <a:prstGeom prst="rect">
            <a:avLst/>
          </a:prstGeom>
          <a:noFill/>
        </p:spPr>
        <p:txBody>
          <a:bodyPr wrap="square">
            <a:spAutoFit/>
          </a:bodyPr>
          <a:lstStyle/>
          <a:p>
            <a:pPr algn="ctr"/>
            <a:r>
              <a:rPr lang="en-US" sz="2800" b="1" dirty="0">
                <a:latin typeface="Helvetica" pitchFamily="2" charset="0"/>
              </a:rPr>
              <a:t>What I'd do next</a:t>
            </a:r>
            <a:endParaRPr lang="en-US" sz="2800" dirty="0">
              <a:latin typeface="Helvetica" pitchFamily="2" charset="0"/>
            </a:endParaRPr>
          </a:p>
          <a:p>
            <a:pPr marL="342900" indent="-342900">
              <a:buFont typeface="Arial" panose="020B0604020202020204" pitchFamily="34" charset="0"/>
              <a:buChar char="•"/>
            </a:pPr>
            <a:r>
              <a:rPr lang="en-US" sz="2400" dirty="0">
                <a:latin typeface="Helvetica" pitchFamily="2" charset="0"/>
              </a:rPr>
              <a:t>Acquire anonymized user level data</a:t>
            </a:r>
          </a:p>
          <a:p>
            <a:pPr marL="342900" indent="-342900">
              <a:buFont typeface="Arial" panose="020B0604020202020204" pitchFamily="34" charset="0"/>
              <a:buChar char="•"/>
            </a:pPr>
            <a:r>
              <a:rPr lang="en-US" sz="2400" dirty="0">
                <a:latin typeface="Helvetica" pitchFamily="2" charset="0"/>
              </a:rPr>
              <a:t>Add weather, event, and station amenity features </a:t>
            </a:r>
          </a:p>
          <a:p>
            <a:pPr marL="342900" indent="-342900">
              <a:buFont typeface="Arial" panose="020B0604020202020204" pitchFamily="34" charset="0"/>
              <a:buChar char="•"/>
            </a:pPr>
            <a:r>
              <a:rPr lang="en-US" sz="2400" dirty="0">
                <a:latin typeface="Helvetica" pitchFamily="2" charset="0"/>
              </a:rPr>
              <a:t>Hyperparameter tuning and out of time validation </a:t>
            </a:r>
          </a:p>
          <a:p>
            <a:pPr marL="342900" indent="-342900">
              <a:buFont typeface="Arial" panose="020B0604020202020204" pitchFamily="34" charset="0"/>
              <a:buChar char="•"/>
            </a:pPr>
            <a:r>
              <a:rPr lang="en-US" sz="2400" dirty="0">
                <a:latin typeface="Helvetica" pitchFamily="2" charset="0"/>
              </a:rPr>
              <a:t>Operationalize the model in a real time targeting system</a:t>
            </a:r>
          </a:p>
        </p:txBody>
      </p:sp>
      <p:sp>
        <p:nvSpPr>
          <p:cNvPr id="12" name="Rectangle 11">
            <a:extLst>
              <a:ext uri="{FF2B5EF4-FFF2-40B4-BE49-F238E27FC236}">
                <a16:creationId xmlns:a16="http://schemas.microsoft.com/office/drawing/2014/main" id="{161CAAEB-B210-1411-97CF-AEF829AB72B2}"/>
              </a:ext>
            </a:extLst>
          </p:cNvPr>
          <p:cNvSpPr/>
          <p:nvPr/>
        </p:nvSpPr>
        <p:spPr>
          <a:xfrm>
            <a:off x="8278785" y="1599144"/>
            <a:ext cx="3794066" cy="4688632"/>
          </a:xfrm>
          <a:prstGeom prst="rect">
            <a:avLst/>
          </a:prstGeom>
          <a:solidFill>
            <a:schemeClr val="accent1">
              <a:alpha val="15733"/>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3DBD1DF-F268-8334-F26C-1EA4C4DF9621}"/>
              </a:ext>
            </a:extLst>
          </p:cNvPr>
          <p:cNvSpPr/>
          <p:nvPr/>
        </p:nvSpPr>
        <p:spPr>
          <a:xfrm>
            <a:off x="4218711" y="1599144"/>
            <a:ext cx="3794066" cy="4688632"/>
          </a:xfrm>
          <a:prstGeom prst="rect">
            <a:avLst/>
          </a:prstGeom>
          <a:solidFill>
            <a:schemeClr val="accent1">
              <a:alpha val="15733"/>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1B19183-88F0-ADCA-E760-14D3253D00EF}"/>
              </a:ext>
            </a:extLst>
          </p:cNvPr>
          <p:cNvSpPr/>
          <p:nvPr/>
        </p:nvSpPr>
        <p:spPr>
          <a:xfrm>
            <a:off x="193966" y="1599144"/>
            <a:ext cx="3794066" cy="4688632"/>
          </a:xfrm>
          <a:prstGeom prst="rect">
            <a:avLst/>
          </a:prstGeom>
          <a:solidFill>
            <a:schemeClr val="accent1">
              <a:alpha val="15733"/>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4731619-75CB-5CB4-3656-19A2D382BA8D}"/>
              </a:ext>
            </a:extLst>
          </p:cNvPr>
          <p:cNvSpPr txBox="1"/>
          <p:nvPr/>
        </p:nvSpPr>
        <p:spPr>
          <a:xfrm>
            <a:off x="2126328" y="6408833"/>
            <a:ext cx="8916335" cy="369332"/>
          </a:xfrm>
          <a:prstGeom prst="rect">
            <a:avLst/>
          </a:prstGeom>
          <a:noFill/>
        </p:spPr>
        <p:txBody>
          <a:bodyPr wrap="square">
            <a:spAutoFit/>
          </a:bodyPr>
          <a:lstStyle/>
          <a:p>
            <a:r>
              <a:rPr lang="en-US" i="1" dirty="0">
                <a:hlinkClick r:id="rId2"/>
              </a:rPr>
              <a:t>https://</a:t>
            </a:r>
            <a:r>
              <a:rPr lang="en-US" i="1" dirty="0" err="1">
                <a:hlinkClick r:id="rId2"/>
              </a:rPr>
              <a:t>github.com</a:t>
            </a:r>
            <a:r>
              <a:rPr lang="en-US" i="1" dirty="0">
                <a:hlinkClick r:id="rId2"/>
              </a:rPr>
              <a:t>/hamjac5334/Portfolio/tree/main/</a:t>
            </a:r>
            <a:r>
              <a:rPr lang="en-US" i="1" dirty="0" err="1">
                <a:hlinkClick r:id="rId2"/>
              </a:rPr>
              <a:t>Data_Analysis</a:t>
            </a:r>
            <a:r>
              <a:rPr lang="en-US" i="1" dirty="0">
                <a:hlinkClick r:id="rId2"/>
              </a:rPr>
              <a:t>/</a:t>
            </a:r>
            <a:r>
              <a:rPr lang="en-US" i="1" dirty="0" err="1">
                <a:hlinkClick r:id="rId2"/>
              </a:rPr>
              <a:t>Capital_Bikeshare</a:t>
            </a:r>
            <a:endParaRPr lang="en-US" i="1" dirty="0"/>
          </a:p>
        </p:txBody>
      </p:sp>
    </p:spTree>
    <p:extLst>
      <p:ext uri="{BB962C8B-B14F-4D97-AF65-F5344CB8AC3E}">
        <p14:creationId xmlns:p14="http://schemas.microsoft.com/office/powerpoint/2010/main" val="40162345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3257</TotalTime>
  <Words>795</Words>
  <Application>Microsoft Macintosh PowerPoint</Application>
  <PresentationFormat>Widescreen</PresentationFormat>
  <Paragraphs>99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Helvetica</vt:lpstr>
      <vt:lpstr>Office Theme</vt:lpstr>
      <vt:lpstr>Converting Casual Riders to Annual Members at Capital Bikeshare</vt:lpstr>
      <vt:lpstr>Capital Bikeshare leaves recurring revenue on the table: around 30% of rides are casual, behave like members</vt:lpstr>
      <vt:lpstr>A gradient boosting classifier learns the behavioral identity of member ridership and scores every casual ride against it  </vt:lpstr>
      <vt:lpstr>Members typically ride in commute rhythm. Casuals typically ride in leisure rhythm, but are overlapping patterns</vt:lpstr>
      <vt:lpstr>55,000 casual rides per month look like member rides, 5 times the size of a simple commuter heuristic</vt:lpstr>
      <vt:lpstr>Five stations in the upper Northwest DC corridor concentrated on the conversion opportunity</vt:lpstr>
      <vt:lpstr>Pilot a four-tactic corridor campaign; scale once validated</vt:lpstr>
      <vt:lpstr>A 90 day controlled pilot validates the mechanic before systemwide rollout.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Hamilton, Jack</dc:creator>
  <cp:lastModifiedBy>Hamilton, Jack</cp:lastModifiedBy>
  <cp:revision>4</cp:revision>
  <dcterms:created xsi:type="dcterms:W3CDTF">2026-05-24T19:34:45Z</dcterms:created>
  <dcterms:modified xsi:type="dcterms:W3CDTF">2026-05-27T01:52:30Z</dcterms:modified>
</cp:coreProperties>
</file>